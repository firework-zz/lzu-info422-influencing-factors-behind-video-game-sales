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5" r:id="rId3"/>
    <p:sldId id="282" r:id="rId5"/>
    <p:sldId id="258" r:id="rId6"/>
    <p:sldId id="279" r:id="rId7"/>
    <p:sldId id="302" r:id="rId8"/>
    <p:sldId id="281" r:id="rId9"/>
    <p:sldId id="278" r:id="rId10"/>
    <p:sldId id="283" r:id="rId11"/>
    <p:sldId id="264" r:id="rId12"/>
    <p:sldId id="286" r:id="rId13"/>
    <p:sldId id="265" r:id="rId14"/>
    <p:sldId id="267" r:id="rId15"/>
    <p:sldId id="317" r:id="rId16"/>
    <p:sldId id="319" r:id="rId17"/>
    <p:sldId id="320" r:id="rId18"/>
    <p:sldId id="321" r:id="rId19"/>
    <p:sldId id="270" r:id="rId20"/>
    <p:sldId id="332" r:id="rId21"/>
    <p:sldId id="331" r:id="rId22"/>
    <p:sldId id="330" r:id="rId23"/>
    <p:sldId id="328" r:id="rId24"/>
    <p:sldId id="32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hyperlink" Target="https://lzu-info422-influencing-factors-behind-video-game-sales.streamlit.app/" TargetMode="External"/><Relationship Id="rId1" Type="http://schemas.openxmlformats.org/officeDocument/2006/relationships/image" Target="../media/image10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gradFill flip="none" rotWithShape="1">
            <a:gsLst>
              <a:gs pos="0">
                <a:srgbClr val="EAEEF4"/>
              </a:gs>
              <a:gs pos="14000">
                <a:srgbClr val="EFF3F7"/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99607" y="629319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5" name="Image 1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80135" y="44450"/>
            <a:ext cx="262890" cy="11703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6778" y="966855"/>
            <a:ext cx="7055586" cy="21228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4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Influencing Factors behind Video Game Sales</a:t>
            </a:r>
            <a:endParaRPr lang="en-US" altLang="zh-CN" sz="44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rgbClr val="808080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Data Science Project — VGChartz 2024 Dataset Analysis</a:t>
            </a:r>
            <a:endParaRPr lang="en-US" altLang="zh-CN" sz="2000" dirty="0">
              <a:solidFill>
                <a:srgbClr val="808080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626743" y="2970570"/>
            <a:ext cx="4589631" cy="299140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/>
              <a:t>Group Number: Group 23</a:t>
            </a:r>
            <a:endParaRPr lang="en-US" altLang="zh-CN"/>
          </a:p>
          <a:p>
            <a:pPr algn="l">
              <a:lnSpc>
                <a:spcPct val="150000"/>
              </a:lnSpc>
            </a:pPr>
            <a:r>
              <a:rPr lang="en-US" altLang="zh-CN"/>
              <a:t>Group Member: Fengyuan Zuo 320230992841</a:t>
            </a:r>
            <a:endParaRPr lang="en-US" altLang="zh-CN"/>
          </a:p>
          <a:p>
            <a:pPr algn="l">
              <a:lnSpc>
                <a:spcPct val="150000"/>
              </a:lnSpc>
            </a:pPr>
            <a:r>
              <a:rPr lang="en-US" altLang="zh-CN"/>
              <a:t>	            Fanzhou Bu 	   320230941681</a:t>
            </a:r>
            <a:endParaRPr lang="en-US" altLang="zh-CN"/>
          </a:p>
          <a:p>
            <a:pPr algn="l">
              <a:lnSpc>
                <a:spcPct val="150000"/>
              </a:lnSpc>
            </a:pPr>
            <a:r>
              <a:rPr lang="en-US" altLang="zh-CN"/>
              <a:t>                              Rui Zhong         320230942781</a:t>
            </a:r>
            <a:endParaRPr lang="en-US" altLang="zh-CN"/>
          </a:p>
          <a:p>
            <a:pPr algn="l">
              <a:lnSpc>
                <a:spcPct val="150000"/>
              </a:lnSpc>
            </a:pPr>
            <a:r>
              <a:rPr lang="en-US" altLang="zh-CN"/>
              <a:t>	            Tianxiao Yang  320230942631</a:t>
            </a:r>
            <a:endParaRPr lang="en-US" altLang="zh-CN"/>
          </a:p>
          <a:p>
            <a:pPr algn="l">
              <a:lnSpc>
                <a:spcPct val="150000"/>
              </a:lnSpc>
            </a:pPr>
            <a:r>
              <a:rPr lang="en-US" altLang="zh-CN"/>
              <a:t>                              </a:t>
            </a:r>
            <a:r>
              <a:rPr lang="en-US" altLang="zh-CN">
                <a:solidFill>
                  <a:schemeClr val="tx1"/>
                </a:solidFill>
              </a:rPr>
              <a:t>Zijie Gong</a:t>
            </a:r>
            <a:r>
              <a:rPr lang="en-US" altLang="zh-CN"/>
              <a:t>         320230941871</a:t>
            </a:r>
            <a:endParaRPr lang="en-US" altLang="zh-CN"/>
          </a:p>
          <a:p>
            <a:pPr algn="l">
              <a:lnSpc>
                <a:spcPct val="150000"/>
              </a:lnSpc>
            </a:pPr>
            <a:r>
              <a:rPr lang="zh-CN" altLang="en-US"/>
              <a:t>Report date: 202</a:t>
            </a:r>
            <a:r>
              <a:rPr lang="en-US" altLang="zh-CN"/>
              <a:t>6</a:t>
            </a:r>
            <a:r>
              <a:rPr lang="zh-CN" altLang="en-US"/>
              <a:t>/</a:t>
            </a:r>
            <a:r>
              <a:rPr lang="en-US" altLang="zh-CN"/>
              <a:t>7</a:t>
            </a:r>
            <a:r>
              <a:rPr lang="zh-CN" altLang="en-US"/>
              <a:t>/</a:t>
            </a:r>
            <a:r>
              <a:rPr lang="en-US" altLang="zh-CN"/>
              <a:t>1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n00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9631680" y="1380490"/>
            <a:ext cx="1750695" cy="14230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6-d2sggsm1bb2p4onbon20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924600" y="2376788"/>
            <a:ext cx="3957955" cy="448119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 flipH="1">
            <a:off x="4570730" y="264858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8" name="Shape 1"/>
          <p:cNvSpPr/>
          <p:nvPr/>
        </p:nvSpPr>
        <p:spPr>
          <a:xfrm flipH="1">
            <a:off x="4570730" y="340106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9" name="Shape 2"/>
          <p:cNvSpPr/>
          <p:nvPr/>
        </p:nvSpPr>
        <p:spPr>
          <a:xfrm flipH="1">
            <a:off x="4570730" y="417639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 flipH="1">
            <a:off x="4570730" y="491998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11" name="Shape 4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844550" y="1749425"/>
            <a:ext cx="1408430" cy="9766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5" name="Text 18"/>
          <p:cNvSpPr/>
          <p:nvPr/>
        </p:nvSpPr>
        <p:spPr>
          <a:xfrm>
            <a:off x="844550" y="1749425"/>
            <a:ext cx="1408430" cy="976630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844523" y="2178839"/>
            <a:ext cx="2663190" cy="4353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924560" y="2670810"/>
            <a:ext cx="1977221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8" name="Shape 21"/>
          <p:cNvSpPr/>
          <p:nvPr/>
        </p:nvSpPr>
        <p:spPr>
          <a:xfrm flipH="1">
            <a:off x="4570730" y="183388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29" name="Text 22"/>
          <p:cNvSpPr/>
          <p:nvPr/>
        </p:nvSpPr>
        <p:spPr>
          <a:xfrm>
            <a:off x="4747260" y="1640840"/>
            <a:ext cx="1043305" cy="80200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01.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5642610" y="1849120"/>
            <a:ext cx="5027567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 defTabSz="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Problem Statement </a:t>
            </a:r>
            <a:r>
              <a:rPr lang="zh-CN" alt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&amp; </a:t>
            </a:r>
            <a:r>
              <a:rPr lang="en-US" altLang="zh-CN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Motivation</a:t>
            </a:r>
            <a:endParaRPr lang="en-US" altLang="zh-CN" sz="2000" dirty="0">
              <a:solidFill>
                <a:srgbClr val="595959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4458970" y="2431415"/>
            <a:ext cx="1619250" cy="6796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02.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5642610" y="2663825"/>
            <a:ext cx="626808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Data </a:t>
            </a:r>
            <a:r>
              <a:rPr lang="zh-CN" alt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&amp; </a:t>
            </a:r>
            <a:r>
              <a:rPr lang="en-US" altLang="zh-CN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Preprocessing</a:t>
            </a:r>
            <a:endParaRPr lang="en-US" altLang="zh-CN" sz="2000" dirty="0">
              <a:solidFill>
                <a:srgbClr val="595959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4458970" y="3201035"/>
            <a:ext cx="1619250" cy="6796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03.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5642610" y="3433445"/>
            <a:ext cx="626808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EDA </a:t>
            </a:r>
            <a:r>
              <a:rPr lang="zh-CN" alt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&amp; </a:t>
            </a:r>
            <a:r>
              <a:rPr lang="en-US" altLang="zh-CN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Key Findings</a:t>
            </a:r>
            <a:endParaRPr lang="en-US" altLang="zh-CN" sz="2000" dirty="0">
              <a:solidFill>
                <a:srgbClr val="595959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4458970" y="3982085"/>
            <a:ext cx="1619250" cy="6796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04.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5642610" y="4214495"/>
            <a:ext cx="626808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Model </a:t>
            </a:r>
            <a:r>
              <a:rPr lang="zh-CN" alt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&amp; </a:t>
            </a:r>
            <a:r>
              <a:rPr lang="en-US" altLang="zh-CN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Evaluation</a:t>
            </a:r>
            <a:endParaRPr lang="en-US" altLang="zh-CN" sz="2000" dirty="0">
              <a:solidFill>
                <a:srgbClr val="595959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4458970" y="4736465"/>
            <a:ext cx="1619250" cy="6796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05.</a:t>
            </a:r>
            <a:endParaRPr lang="en-US" sz="1600" dirty="0"/>
          </a:p>
        </p:txBody>
      </p:sp>
      <p:sp>
        <p:nvSpPr>
          <p:cNvPr id="38" name="Text 31"/>
          <p:cNvSpPr/>
          <p:nvPr/>
        </p:nvSpPr>
        <p:spPr>
          <a:xfrm>
            <a:off x="5642610" y="4968875"/>
            <a:ext cx="626808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l" defTabSz="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Conclusion</a:t>
            </a:r>
            <a:endParaRPr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67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785495" y="2856230"/>
            <a:ext cx="5645785" cy="14478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altLang="zh-CN" sz="3400" b="1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Problem Statement </a:t>
            </a:r>
            <a:r>
              <a:rPr lang="zh-CN" altLang="en-US" sz="3400" b="1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&amp; </a:t>
            </a:r>
            <a:endParaRPr lang="zh-CN" altLang="en-US" sz="3400" b="1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altLang="zh-CN" sz="3400" b="1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Motivation</a:t>
            </a:r>
            <a:endParaRPr lang="en-US" altLang="zh-CN" sz="3400" b="1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-12749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6973" y="1139103"/>
            <a:ext cx="11642816" cy="12741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Project Overview</a:t>
            </a:r>
            <a:endParaRPr lang="en-US" sz="3600" b="1" dirty="0">
              <a:solidFill>
                <a:srgbClr val="5C7CB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56928" y="2413227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7097E5"/>
          </a:solidFill>
        </p:spPr>
      </p:sp>
      <p:sp>
        <p:nvSpPr>
          <p:cNvPr id="5" name="Text 2"/>
          <p:cNvSpPr/>
          <p:nvPr/>
        </p:nvSpPr>
        <p:spPr>
          <a:xfrm>
            <a:off x="545945" y="2580768"/>
            <a:ext cx="7112000" cy="11402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Tech advancements and more users have boosted the global gaming industry. Sales are key for developers, publishers and investors’ decisions. Yet, overlapping factors (platforms, genres, regions, </a:t>
            </a:r>
            <a:r>
              <a:rPr lang="en-US" altLang="zh-CN" sz="16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publisher</a:t>
            </a:r>
            <a:r>
              <a:rPr lang="en-US" sz="16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s) make traditional experience-based judgments inadequate.</a:t>
            </a:r>
            <a:endParaRPr lang="en-US" sz="1600" dirty="0">
              <a:solidFill>
                <a:srgbClr val="373737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6973" y="4440593"/>
            <a:ext cx="7200964" cy="1287860"/>
          </a:xfrm>
          <a:custGeom>
            <a:avLst/>
            <a:gdLst/>
            <a:ahLst/>
            <a:cxnLst/>
            <a:rect l="l" t="t" r="r" b="b"/>
            <a:pathLst>
              <a:path w="7112000" h="1016000">
                <a:moveTo>
                  <a:pt x="101600" y="0"/>
                </a:moveTo>
                <a:lnTo>
                  <a:pt x="7010400" y="0"/>
                </a:lnTo>
                <a:cubicBezTo>
                  <a:pt x="7066475" y="0"/>
                  <a:pt x="7112000" y="45525"/>
                  <a:pt x="7112000" y="101600"/>
                </a:cubicBezTo>
                <a:lnTo>
                  <a:pt x="7112000" y="914400"/>
                </a:lnTo>
                <a:cubicBezTo>
                  <a:pt x="7112000" y="970475"/>
                  <a:pt x="7066475" y="1016000"/>
                  <a:pt x="7010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545930" y="3987617"/>
            <a:ext cx="6934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Main</a:t>
            </a:r>
            <a:r>
              <a:rPr lang="en-US" sz="2000" b="1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Objective</a:t>
            </a:r>
            <a:endParaRPr lang="en-US" sz="2000" b="1" dirty="0">
              <a:solidFill>
                <a:srgbClr val="5C7CB3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8402" y="4546010"/>
            <a:ext cx="6846328" cy="1019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/>
              <a:t>This project uses VGChartz’s 2024 game sales dataset to quantify how platform, genre, publisher brand, and critic scores influence global sales, providing data-driven insights for market strategy in the gaming industry.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75571" y="297171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FA7D0">
              <a:alpha val="3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8102571" y="309856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11" name="Text 8"/>
          <p:cNvSpPr/>
          <p:nvPr/>
        </p:nvSpPr>
        <p:spPr>
          <a:xfrm>
            <a:off x="8635646" y="2946288"/>
            <a:ext cx="2060886" cy="5589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Market Positioning for Developers</a:t>
            </a:r>
            <a:endParaRPr lang="en-US" sz="1600" b="1" dirty="0">
              <a:solidFill>
                <a:srgbClr val="373737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975571" y="3784277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FA7D0">
              <a:alpha val="3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8086696" y="391113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54198" y="119063"/>
                </a:moveTo>
                <a:lnTo>
                  <a:pt x="166886" y="119063"/>
                </a:lnTo>
                <a:cubicBezTo>
                  <a:pt x="158105" y="119063"/>
                  <a:pt x="151011" y="111968"/>
                  <a:pt x="151011" y="103188"/>
                </a:cubicBezTo>
                <a:lnTo>
                  <a:pt x="151011" y="15875"/>
                </a:lnTo>
                <a:cubicBezTo>
                  <a:pt x="151011" y="7094"/>
                  <a:pt x="158155" y="-99"/>
                  <a:pt x="166836" y="1042"/>
                </a:cubicBezTo>
                <a:cubicBezTo>
                  <a:pt x="219918" y="8086"/>
                  <a:pt x="261987" y="50155"/>
                  <a:pt x="269032" y="103237"/>
                </a:cubicBezTo>
                <a:cubicBezTo>
                  <a:pt x="270173" y="111919"/>
                  <a:pt x="262979" y="119063"/>
                  <a:pt x="254198" y="119063"/>
                </a:cubicBezTo>
                <a:close/>
                <a:moveTo>
                  <a:pt x="110430" y="18455"/>
                </a:moveTo>
                <a:cubicBezTo>
                  <a:pt x="119410" y="16570"/>
                  <a:pt x="127198" y="23912"/>
                  <a:pt x="127198" y="33089"/>
                </a:cubicBezTo>
                <a:lnTo>
                  <a:pt x="127198" y="130969"/>
                </a:lnTo>
                <a:cubicBezTo>
                  <a:pt x="127198" y="133747"/>
                  <a:pt x="128191" y="136426"/>
                  <a:pt x="129927" y="138559"/>
                </a:cubicBezTo>
                <a:lnTo>
                  <a:pt x="195461" y="217636"/>
                </a:lnTo>
                <a:cubicBezTo>
                  <a:pt x="201265" y="224631"/>
                  <a:pt x="200025" y="235198"/>
                  <a:pt x="192038" y="239514"/>
                </a:cubicBezTo>
                <a:cubicBezTo>
                  <a:pt x="175121" y="248741"/>
                  <a:pt x="155724" y="254000"/>
                  <a:pt x="135136" y="254000"/>
                </a:cubicBezTo>
                <a:cubicBezTo>
                  <a:pt x="69404" y="254000"/>
                  <a:pt x="16073" y="200670"/>
                  <a:pt x="16073" y="134938"/>
                </a:cubicBezTo>
                <a:cubicBezTo>
                  <a:pt x="16073" y="77639"/>
                  <a:pt x="56505" y="29815"/>
                  <a:pt x="110430" y="18455"/>
                </a:cubicBezTo>
                <a:close/>
                <a:moveTo>
                  <a:pt x="237034" y="142875"/>
                </a:moveTo>
                <a:lnTo>
                  <a:pt x="268784" y="142875"/>
                </a:lnTo>
                <a:cubicBezTo>
                  <a:pt x="277961" y="142875"/>
                  <a:pt x="285304" y="150664"/>
                  <a:pt x="283418" y="159643"/>
                </a:cubicBezTo>
                <a:cubicBezTo>
                  <a:pt x="278358" y="183654"/>
                  <a:pt x="266055" y="204986"/>
                  <a:pt x="248890" y="221258"/>
                </a:cubicBezTo>
                <a:cubicBezTo>
                  <a:pt x="242788" y="227062"/>
                  <a:pt x="233214" y="225822"/>
                  <a:pt x="227856" y="219323"/>
                </a:cubicBezTo>
                <a:lnTo>
                  <a:pt x="185986" y="168870"/>
                </a:lnTo>
                <a:cubicBezTo>
                  <a:pt x="177403" y="158502"/>
                  <a:pt x="184795" y="142875"/>
                  <a:pt x="198189" y="142875"/>
                </a:cubicBezTo>
                <a:lnTo>
                  <a:pt x="236984" y="142875"/>
                </a:lnTo>
                <a:close/>
              </a:path>
            </a:pathLst>
          </a:custGeom>
          <a:solidFill>
            <a:srgbClr val="5C7CB3"/>
          </a:solidFill>
        </p:spPr>
      </p:sp>
      <p:sp>
        <p:nvSpPr>
          <p:cNvPr id="14" name="Text 11"/>
          <p:cNvSpPr/>
          <p:nvPr/>
        </p:nvSpPr>
        <p:spPr>
          <a:xfrm>
            <a:off x="8635646" y="3733439"/>
            <a:ext cx="1986743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Investment Strategy for Publishers</a:t>
            </a:r>
            <a:endParaRPr lang="en-US" sz="1600" b="1" dirty="0">
              <a:solidFill>
                <a:srgbClr val="373737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975571" y="459684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FA7D0">
              <a:alpha val="3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8086696" y="4723695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-7937"/>
                </a:moveTo>
                <a:cubicBezTo>
                  <a:pt x="136277" y="-7937"/>
                  <a:pt x="130969" y="-2629"/>
                  <a:pt x="130969" y="3969"/>
                </a:cubicBezTo>
                <a:lnTo>
                  <a:pt x="130969" y="9922"/>
                </a:lnTo>
                <a:lnTo>
                  <a:pt x="130076" y="9922"/>
                </a:lnTo>
                <a:cubicBezTo>
                  <a:pt x="111919" y="9922"/>
                  <a:pt x="97234" y="24656"/>
                  <a:pt x="97234" y="42763"/>
                </a:cubicBezTo>
                <a:cubicBezTo>
                  <a:pt x="97234" y="59333"/>
                  <a:pt x="109587" y="73323"/>
                  <a:pt x="126008" y="75357"/>
                </a:cubicBezTo>
                <a:lnTo>
                  <a:pt x="156270" y="79127"/>
                </a:lnTo>
                <a:cubicBezTo>
                  <a:pt x="158800" y="79425"/>
                  <a:pt x="160734" y="81607"/>
                  <a:pt x="160734" y="84187"/>
                </a:cubicBezTo>
                <a:cubicBezTo>
                  <a:pt x="160734" y="87015"/>
                  <a:pt x="158452" y="89247"/>
                  <a:pt x="155674" y="89247"/>
                </a:cubicBezTo>
                <a:lnTo>
                  <a:pt x="119063" y="89297"/>
                </a:lnTo>
                <a:cubicBezTo>
                  <a:pt x="111373" y="89297"/>
                  <a:pt x="105172" y="95498"/>
                  <a:pt x="105172" y="103188"/>
                </a:cubicBezTo>
                <a:cubicBezTo>
                  <a:pt x="105172" y="110877"/>
                  <a:pt x="111373" y="117078"/>
                  <a:pt x="119063" y="117078"/>
                </a:cubicBezTo>
                <a:lnTo>
                  <a:pt x="130969" y="117078"/>
                </a:lnTo>
                <a:lnTo>
                  <a:pt x="130969" y="123031"/>
                </a:lnTo>
                <a:cubicBezTo>
                  <a:pt x="130969" y="129629"/>
                  <a:pt x="136277" y="134938"/>
                  <a:pt x="142875" y="134938"/>
                </a:cubicBezTo>
                <a:cubicBezTo>
                  <a:pt x="149473" y="134938"/>
                  <a:pt x="154781" y="129629"/>
                  <a:pt x="154781" y="123031"/>
                </a:cubicBezTo>
                <a:lnTo>
                  <a:pt x="154781" y="117078"/>
                </a:lnTo>
                <a:lnTo>
                  <a:pt x="155674" y="117078"/>
                </a:lnTo>
                <a:cubicBezTo>
                  <a:pt x="173831" y="117078"/>
                  <a:pt x="188516" y="102344"/>
                  <a:pt x="188516" y="84237"/>
                </a:cubicBezTo>
                <a:cubicBezTo>
                  <a:pt x="188516" y="67667"/>
                  <a:pt x="176163" y="53677"/>
                  <a:pt x="159742" y="51643"/>
                </a:cubicBezTo>
                <a:lnTo>
                  <a:pt x="129480" y="47873"/>
                </a:lnTo>
                <a:cubicBezTo>
                  <a:pt x="126950" y="47575"/>
                  <a:pt x="125016" y="45393"/>
                  <a:pt x="125016" y="42813"/>
                </a:cubicBezTo>
                <a:cubicBezTo>
                  <a:pt x="125016" y="39985"/>
                  <a:pt x="127298" y="37753"/>
                  <a:pt x="130076" y="37753"/>
                </a:cubicBezTo>
                <a:lnTo>
                  <a:pt x="162719" y="37703"/>
                </a:lnTo>
                <a:cubicBezTo>
                  <a:pt x="170408" y="37703"/>
                  <a:pt x="176609" y="31502"/>
                  <a:pt x="176609" y="23812"/>
                </a:cubicBezTo>
                <a:cubicBezTo>
                  <a:pt x="176609" y="16123"/>
                  <a:pt x="170408" y="9922"/>
                  <a:pt x="162719" y="9922"/>
                </a:cubicBezTo>
                <a:lnTo>
                  <a:pt x="154781" y="9922"/>
                </a:lnTo>
                <a:lnTo>
                  <a:pt x="154781" y="3969"/>
                </a:lnTo>
                <a:cubicBezTo>
                  <a:pt x="154781" y="-2629"/>
                  <a:pt x="149473" y="-7937"/>
                  <a:pt x="142875" y="-7937"/>
                </a:cubicBezTo>
                <a:close/>
                <a:moveTo>
                  <a:pt x="54223" y="169416"/>
                </a:moveTo>
                <a:lnTo>
                  <a:pt x="33089" y="190500"/>
                </a:lnTo>
                <a:lnTo>
                  <a:pt x="15875" y="190500"/>
                </a:lnTo>
                <a:cubicBezTo>
                  <a:pt x="7094" y="190500"/>
                  <a:pt x="0" y="197594"/>
                  <a:pt x="0" y="206375"/>
                </a:cubicBezTo>
                <a:lnTo>
                  <a:pt x="0" y="238125"/>
                </a:lnTo>
                <a:cubicBezTo>
                  <a:pt x="0" y="246906"/>
                  <a:pt x="7094" y="254000"/>
                  <a:pt x="15875" y="254000"/>
                </a:cubicBezTo>
                <a:lnTo>
                  <a:pt x="174873" y="254000"/>
                </a:lnTo>
                <a:cubicBezTo>
                  <a:pt x="189260" y="254000"/>
                  <a:pt x="203299" y="249386"/>
                  <a:pt x="214908" y="240854"/>
                </a:cubicBezTo>
                <a:lnTo>
                  <a:pt x="277713" y="194568"/>
                </a:lnTo>
                <a:cubicBezTo>
                  <a:pt x="286544" y="188069"/>
                  <a:pt x="288429" y="175667"/>
                  <a:pt x="281930" y="166836"/>
                </a:cubicBezTo>
                <a:cubicBezTo>
                  <a:pt x="275431" y="158006"/>
                  <a:pt x="263029" y="156121"/>
                  <a:pt x="254198" y="162620"/>
                </a:cubicBezTo>
                <a:lnTo>
                  <a:pt x="194766" y="206375"/>
                </a:lnTo>
                <a:lnTo>
                  <a:pt x="138906" y="206375"/>
                </a:lnTo>
                <a:cubicBezTo>
                  <a:pt x="132308" y="206375"/>
                  <a:pt x="127000" y="201067"/>
                  <a:pt x="127000" y="194469"/>
                </a:cubicBezTo>
                <a:cubicBezTo>
                  <a:pt x="127000" y="187871"/>
                  <a:pt x="132308" y="182563"/>
                  <a:pt x="138906" y="182563"/>
                </a:cubicBezTo>
                <a:lnTo>
                  <a:pt x="174625" y="182563"/>
                </a:lnTo>
                <a:cubicBezTo>
                  <a:pt x="183406" y="182563"/>
                  <a:pt x="190500" y="175468"/>
                  <a:pt x="190500" y="166688"/>
                </a:cubicBezTo>
                <a:cubicBezTo>
                  <a:pt x="190500" y="157907"/>
                  <a:pt x="183406" y="150813"/>
                  <a:pt x="174625" y="150813"/>
                </a:cubicBezTo>
                <a:lnTo>
                  <a:pt x="99120" y="150813"/>
                </a:lnTo>
                <a:cubicBezTo>
                  <a:pt x="82302" y="150813"/>
                  <a:pt x="66129" y="157510"/>
                  <a:pt x="54223" y="169416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17" name="Text 14"/>
          <p:cNvSpPr/>
          <p:nvPr/>
        </p:nvSpPr>
        <p:spPr>
          <a:xfrm>
            <a:off x="8635646" y="4546055"/>
            <a:ext cx="1986621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Value Assessment for Investors</a:t>
            </a:r>
            <a:endParaRPr lang="en-US" sz="1600" b="1" dirty="0">
              <a:solidFill>
                <a:srgbClr val="373737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6879" y="1124459"/>
            <a:ext cx="3695700" cy="4147708"/>
          </a:xfrm>
          <a:custGeom>
            <a:avLst/>
            <a:gdLst/>
            <a:ahLst/>
            <a:cxnLst/>
            <a:rect l="l" t="t" r="r" b="b"/>
            <a:pathLst>
              <a:path w="3695700" h="3175000">
                <a:moveTo>
                  <a:pt x="101600" y="0"/>
                </a:moveTo>
                <a:lnTo>
                  <a:pt x="3594100" y="0"/>
                </a:lnTo>
                <a:cubicBezTo>
                  <a:pt x="3650175" y="0"/>
                  <a:pt x="3695700" y="45525"/>
                  <a:pt x="3695700" y="101600"/>
                </a:cubicBezTo>
                <a:lnTo>
                  <a:pt x="3695700" y="3073400"/>
                </a:lnTo>
                <a:cubicBezTo>
                  <a:pt x="3695700" y="3129475"/>
                  <a:pt x="3650175" y="3175000"/>
                  <a:pt x="3594100" y="3175000"/>
                </a:cubicBezTo>
                <a:lnTo>
                  <a:pt x="101600" y="3175000"/>
                </a:lnTo>
                <a:cubicBezTo>
                  <a:pt x="45525" y="3175000"/>
                  <a:pt x="0" y="3129475"/>
                  <a:pt x="0" y="3073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1696212" y="1429172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7097E5">
              <a:alpha val="30196"/>
            </a:srgbClr>
          </a:solidFill>
        </p:spPr>
      </p:sp>
      <p:sp>
        <p:nvSpPr>
          <p:cNvPr id="6" name="Shape 3"/>
          <p:cNvSpPr/>
          <p:nvPr/>
        </p:nvSpPr>
        <p:spPr>
          <a:xfrm>
            <a:off x="1873895" y="160688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7" name="Text 4"/>
          <p:cNvSpPr/>
          <p:nvPr/>
        </p:nvSpPr>
        <p:spPr>
          <a:xfrm>
            <a:off x="817500" y="2439222"/>
            <a:ext cx="2574370" cy="4597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Platform-Game Genre </a:t>
            </a:r>
            <a:r>
              <a:rPr lang="en-US" altLang="zh-CN" sz="14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Synergy</a:t>
            </a:r>
            <a:endParaRPr lang="en-US" altLang="zh-CN" sz="1400" b="1" dirty="0">
              <a:solidFill>
                <a:srgbClr val="373737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562632" y="2899020"/>
            <a:ext cx="3086100" cy="2525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47188" y="1124493"/>
            <a:ext cx="3695700" cy="4147675"/>
          </a:xfrm>
          <a:custGeom>
            <a:avLst/>
            <a:gdLst/>
            <a:ahLst/>
            <a:cxnLst/>
            <a:rect l="l" t="t" r="r" b="b"/>
            <a:pathLst>
              <a:path w="3695700" h="3175000">
                <a:moveTo>
                  <a:pt x="101600" y="0"/>
                </a:moveTo>
                <a:lnTo>
                  <a:pt x="3594100" y="0"/>
                </a:lnTo>
                <a:cubicBezTo>
                  <a:pt x="3650175" y="0"/>
                  <a:pt x="3695700" y="45525"/>
                  <a:pt x="3695700" y="101600"/>
                </a:cubicBezTo>
                <a:lnTo>
                  <a:pt x="3695700" y="3073400"/>
                </a:lnTo>
                <a:cubicBezTo>
                  <a:pt x="3695700" y="3129475"/>
                  <a:pt x="3650175" y="3175000"/>
                  <a:pt x="3594100" y="3175000"/>
                </a:cubicBezTo>
                <a:lnTo>
                  <a:pt x="101600" y="3175000"/>
                </a:lnTo>
                <a:cubicBezTo>
                  <a:pt x="45525" y="3175000"/>
                  <a:pt x="0" y="3129475"/>
                  <a:pt x="0" y="3073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FA7D0">
              <a:alpha val="2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6521" y="1429206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7097E5">
              <a:alpha val="4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5921353" y="160692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57150"/>
                </a:moveTo>
                <a:cubicBezTo>
                  <a:pt x="0" y="25628"/>
                  <a:pt x="25628" y="0"/>
                  <a:pt x="57150" y="0"/>
                </a:cubicBezTo>
                <a:lnTo>
                  <a:pt x="190649" y="0"/>
                </a:lnTo>
                <a:cubicBezTo>
                  <a:pt x="205829" y="0"/>
                  <a:pt x="220385" y="5983"/>
                  <a:pt x="231100" y="16699"/>
                </a:cubicBezTo>
                <a:lnTo>
                  <a:pt x="326201" y="111889"/>
                </a:lnTo>
                <a:cubicBezTo>
                  <a:pt x="336917" y="122605"/>
                  <a:pt x="342900" y="137160"/>
                  <a:pt x="342900" y="152340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185738" y="52239"/>
                </a:moveTo>
                <a:lnTo>
                  <a:pt x="185738" y="135731"/>
                </a:lnTo>
                <a:cubicBezTo>
                  <a:pt x="185738" y="147608"/>
                  <a:pt x="195292" y="157163"/>
                  <a:pt x="207169" y="157163"/>
                </a:cubicBezTo>
                <a:lnTo>
                  <a:pt x="290661" y="157163"/>
                </a:lnTo>
                <a:lnTo>
                  <a:pt x="185738" y="52239"/>
                </a:lnTo>
                <a:close/>
                <a:moveTo>
                  <a:pt x="107156" y="228600"/>
                </a:moveTo>
                <a:cubicBezTo>
                  <a:pt x="95280" y="228600"/>
                  <a:pt x="85725" y="238155"/>
                  <a:pt x="85725" y="250031"/>
                </a:cubicBezTo>
                <a:cubicBezTo>
                  <a:pt x="85725" y="261908"/>
                  <a:pt x="95280" y="271463"/>
                  <a:pt x="107156" y="271463"/>
                </a:cubicBezTo>
                <a:lnTo>
                  <a:pt x="235744" y="271463"/>
                </a:lnTo>
                <a:cubicBezTo>
                  <a:pt x="247620" y="271463"/>
                  <a:pt x="257175" y="261908"/>
                  <a:pt x="257175" y="250031"/>
                </a:cubicBezTo>
                <a:cubicBezTo>
                  <a:pt x="257175" y="238155"/>
                  <a:pt x="247620" y="228600"/>
                  <a:pt x="235744" y="228600"/>
                </a:cubicBezTo>
                <a:lnTo>
                  <a:pt x="107156" y="228600"/>
                </a:lnTo>
                <a:close/>
                <a:moveTo>
                  <a:pt x="107156" y="314325"/>
                </a:moveTo>
                <a:cubicBezTo>
                  <a:pt x="95280" y="314325"/>
                  <a:pt x="85725" y="323880"/>
                  <a:pt x="85725" y="335756"/>
                </a:cubicBezTo>
                <a:cubicBezTo>
                  <a:pt x="85725" y="347633"/>
                  <a:pt x="95280" y="357188"/>
                  <a:pt x="107156" y="357188"/>
                </a:cubicBezTo>
                <a:lnTo>
                  <a:pt x="235744" y="357188"/>
                </a:lnTo>
                <a:cubicBezTo>
                  <a:pt x="247620" y="357188"/>
                  <a:pt x="257175" y="347633"/>
                  <a:pt x="257175" y="335756"/>
                </a:cubicBezTo>
                <a:cubicBezTo>
                  <a:pt x="257175" y="323880"/>
                  <a:pt x="247620" y="314325"/>
                  <a:pt x="235744" y="314325"/>
                </a:cubicBezTo>
                <a:lnTo>
                  <a:pt x="107156" y="314325"/>
                </a:lnTo>
                <a:close/>
              </a:path>
            </a:pathLst>
          </a:custGeom>
          <a:solidFill>
            <a:srgbClr val="5C7CB3"/>
          </a:solidFill>
        </p:spPr>
      </p:sp>
      <p:sp>
        <p:nvSpPr>
          <p:cNvPr id="12" name="Text 9"/>
          <p:cNvSpPr/>
          <p:nvPr/>
        </p:nvSpPr>
        <p:spPr>
          <a:xfrm>
            <a:off x="4801190" y="2293575"/>
            <a:ext cx="2587611" cy="7510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Game Genre-Regional Sales Impact</a:t>
            </a:r>
            <a:endParaRPr lang="en-US" sz="1400" b="1" dirty="0">
              <a:solidFill>
                <a:srgbClr val="373737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59351" y="2899020"/>
            <a:ext cx="3086100" cy="22661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39463" y="1124493"/>
            <a:ext cx="3695700" cy="4147674"/>
          </a:xfrm>
          <a:custGeom>
            <a:avLst/>
            <a:gdLst/>
            <a:ahLst/>
            <a:cxnLst/>
            <a:rect l="l" t="t" r="r" b="b"/>
            <a:pathLst>
              <a:path w="3695700" h="3175000">
                <a:moveTo>
                  <a:pt x="101600" y="0"/>
                </a:moveTo>
                <a:lnTo>
                  <a:pt x="3594100" y="0"/>
                </a:lnTo>
                <a:cubicBezTo>
                  <a:pt x="3650175" y="0"/>
                  <a:pt x="3695700" y="45525"/>
                  <a:pt x="3695700" y="101600"/>
                </a:cubicBezTo>
                <a:lnTo>
                  <a:pt x="3695700" y="3073400"/>
                </a:lnTo>
                <a:cubicBezTo>
                  <a:pt x="3695700" y="3129475"/>
                  <a:pt x="3650175" y="3175000"/>
                  <a:pt x="3594100" y="3175000"/>
                </a:cubicBezTo>
                <a:lnTo>
                  <a:pt x="101600" y="3175000"/>
                </a:lnTo>
                <a:cubicBezTo>
                  <a:pt x="45525" y="3175000"/>
                  <a:pt x="0" y="3129475"/>
                  <a:pt x="0" y="3073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9678797" y="1429206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7097E5">
              <a:alpha val="3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9856479" y="16069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8847" y="204043"/>
                </a:moveTo>
                <a:cubicBezTo>
                  <a:pt x="70723" y="120997"/>
                  <a:pt x="142250" y="57150"/>
                  <a:pt x="228600" y="57150"/>
                </a:cubicBezTo>
                <a:cubicBezTo>
                  <a:pt x="275927" y="57150"/>
                  <a:pt x="318790" y="76349"/>
                  <a:pt x="349865" y="107335"/>
                </a:cubicBezTo>
                <a:cubicBezTo>
                  <a:pt x="350044" y="107513"/>
                  <a:pt x="350222" y="107692"/>
                  <a:pt x="350401" y="107871"/>
                </a:cubicBezTo>
                <a:lnTo>
                  <a:pt x="357188" y="114300"/>
                </a:lnTo>
                <a:lnTo>
                  <a:pt x="314414" y="114300"/>
                </a:lnTo>
                <a:cubicBezTo>
                  <a:pt x="298609" y="114300"/>
                  <a:pt x="285839" y="127069"/>
                  <a:pt x="285839" y="142875"/>
                </a:cubicBezTo>
                <a:cubicBezTo>
                  <a:pt x="285839" y="158681"/>
                  <a:pt x="298609" y="171450"/>
                  <a:pt x="314414" y="171450"/>
                </a:cubicBezTo>
                <a:lnTo>
                  <a:pt x="428714" y="171450"/>
                </a:lnTo>
                <a:cubicBezTo>
                  <a:pt x="444520" y="171450"/>
                  <a:pt x="457289" y="158681"/>
                  <a:pt x="457289" y="142875"/>
                </a:cubicBezTo>
                <a:lnTo>
                  <a:pt x="457289" y="28575"/>
                </a:lnTo>
                <a:cubicBezTo>
                  <a:pt x="457289" y="12769"/>
                  <a:pt x="444520" y="0"/>
                  <a:pt x="428714" y="0"/>
                </a:cubicBezTo>
                <a:cubicBezTo>
                  <a:pt x="412909" y="0"/>
                  <a:pt x="400139" y="12769"/>
                  <a:pt x="400139" y="28575"/>
                </a:cubicBezTo>
                <a:lnTo>
                  <a:pt x="400139" y="76260"/>
                </a:lnTo>
                <a:lnTo>
                  <a:pt x="390049" y="66705"/>
                </a:lnTo>
                <a:cubicBezTo>
                  <a:pt x="348704" y="25539"/>
                  <a:pt x="29155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lose/>
                <a:moveTo>
                  <a:pt x="454878" y="261193"/>
                </a:moveTo>
                <a:cubicBezTo>
                  <a:pt x="457111" y="245566"/>
                  <a:pt x="446216" y="231100"/>
                  <a:pt x="430679" y="228868"/>
                </a:cubicBezTo>
                <a:cubicBezTo>
                  <a:pt x="415141" y="226635"/>
                  <a:pt x="400586" y="237530"/>
                  <a:pt x="398353" y="253067"/>
                </a:cubicBezTo>
                <a:cubicBezTo>
                  <a:pt x="386477" y="336113"/>
                  <a:pt x="314950" y="399961"/>
                  <a:pt x="228600" y="399961"/>
                </a:cubicBezTo>
                <a:cubicBezTo>
                  <a:pt x="181273" y="399961"/>
                  <a:pt x="138410" y="380762"/>
                  <a:pt x="107335" y="349776"/>
                </a:cubicBezTo>
                <a:cubicBezTo>
                  <a:pt x="107156" y="349597"/>
                  <a:pt x="106978" y="349419"/>
                  <a:pt x="106799" y="349240"/>
                </a:cubicBezTo>
                <a:lnTo>
                  <a:pt x="100012" y="342811"/>
                </a:lnTo>
                <a:lnTo>
                  <a:pt x="142786" y="342811"/>
                </a:lnTo>
                <a:cubicBezTo>
                  <a:pt x="158591" y="342811"/>
                  <a:pt x="171361" y="330041"/>
                  <a:pt x="171361" y="314236"/>
                </a:cubicBezTo>
                <a:cubicBezTo>
                  <a:pt x="171361" y="298430"/>
                  <a:pt x="158591" y="285661"/>
                  <a:pt x="142786" y="285661"/>
                </a:cubicBezTo>
                <a:lnTo>
                  <a:pt x="28575" y="285750"/>
                </a:lnTo>
                <a:cubicBezTo>
                  <a:pt x="20985" y="285750"/>
                  <a:pt x="13662" y="288786"/>
                  <a:pt x="8305" y="294233"/>
                </a:cubicBezTo>
                <a:cubicBezTo>
                  <a:pt x="2947" y="299680"/>
                  <a:pt x="-89" y="306913"/>
                  <a:pt x="0" y="314593"/>
                </a:cubicBezTo>
                <a:lnTo>
                  <a:pt x="893" y="428000"/>
                </a:lnTo>
                <a:cubicBezTo>
                  <a:pt x="982" y="443805"/>
                  <a:pt x="13930" y="456486"/>
                  <a:pt x="29736" y="456307"/>
                </a:cubicBezTo>
                <a:cubicBezTo>
                  <a:pt x="45541" y="456128"/>
                  <a:pt x="58222" y="443270"/>
                  <a:pt x="58043" y="427464"/>
                </a:cubicBezTo>
                <a:lnTo>
                  <a:pt x="57686" y="381476"/>
                </a:lnTo>
                <a:lnTo>
                  <a:pt x="67241" y="390495"/>
                </a:lnTo>
                <a:cubicBezTo>
                  <a:pt x="108585" y="431661"/>
                  <a:pt x="16564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17" name="Text 14"/>
          <p:cNvSpPr/>
          <p:nvPr/>
        </p:nvSpPr>
        <p:spPr>
          <a:xfrm>
            <a:off x="9076097" y="2491291"/>
            <a:ext cx="2022518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Publisher Brand Impact on Sales</a:t>
            </a:r>
            <a:endParaRPr lang="en-US" sz="1400" b="1" dirty="0">
              <a:solidFill>
                <a:srgbClr val="373737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0" name="Text 0"/>
          <p:cNvSpPr/>
          <p:nvPr/>
        </p:nvSpPr>
        <p:spPr>
          <a:xfrm>
            <a:off x="562664" y="0"/>
            <a:ext cx="11642816" cy="1274152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90000"/>
              </a:lnSpc>
            </a:pPr>
            <a:r>
              <a:rPr lang="en-US" altLang="zh-CN" sz="36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</a:t>
            </a:r>
            <a:r>
              <a:rPr lang="en-US" altLang="zh-CN" sz="28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hree </a:t>
            </a:r>
            <a:r>
              <a:rPr lang="en-US" altLang="zh-CN" sz="36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</a:t>
            </a:r>
            <a:r>
              <a:rPr lang="en-US" altLang="zh-CN" sz="28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uestions </a:t>
            </a:r>
            <a:r>
              <a:rPr lang="en-US" altLang="zh-CN" sz="36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</a:t>
            </a:r>
            <a:r>
              <a:rPr lang="en-US" altLang="zh-CN" sz="28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riving </a:t>
            </a:r>
            <a:r>
              <a:rPr lang="en-US" altLang="zh-CN" sz="36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</a:t>
            </a:r>
            <a:r>
              <a:rPr lang="en-US" altLang="zh-CN" sz="28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ur </a:t>
            </a:r>
            <a:r>
              <a:rPr lang="en-US" altLang="zh-CN" sz="36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</a:t>
            </a:r>
            <a:r>
              <a:rPr lang="en-US" altLang="zh-CN" sz="28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nalysis</a:t>
            </a:r>
            <a:endParaRPr lang="en-US" sz="2800" b="1" dirty="0">
              <a:solidFill>
                <a:srgbClr val="5C7CB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466204" y="3214329"/>
            <a:ext cx="3257582" cy="1895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Do genre preferences vary across North America, Japan, and Europe?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2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e.g., RPGs in Japan vs. Shooters in NA Informs regional marketing allocation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537432" y="3222529"/>
            <a:ext cx="3293471" cy="16191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Does publisher/developer brand impact sales through scale or prestige?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2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e.g., EA volume vs. Nintendo premium Informs partnership decisions</a:t>
            </a:r>
            <a:endParaRPr lang="en-US" sz="1200" dirty="0"/>
          </a:p>
        </p:txBody>
      </p:sp>
      <p:sp>
        <p:nvSpPr>
          <p:cNvPr id="3" name="Text 11"/>
          <p:cNvSpPr/>
          <p:nvPr/>
        </p:nvSpPr>
        <p:spPr>
          <a:xfrm>
            <a:off x="461229" y="3222529"/>
            <a:ext cx="3430421" cy="17888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Do specific platform-genre combinations deliver sales premiums?</a:t>
            </a:r>
            <a:endParaRPr lang="en-US" sz="16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2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e.g., PS4 x Sports vs. Xbox Sports Informs platform strategy and release planning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56884" y="5748103"/>
            <a:ext cx="11678273" cy="840015"/>
          </a:xfrm>
          <a:prstGeom prst="rect">
            <a:avLst/>
          </a:prstGeom>
          <a:solidFill>
            <a:srgbClr val="DEEBF7">
              <a:alpha val="100000"/>
            </a:srgbClr>
          </a:solidFill>
          <a:ln w="12700" cmpd="sng">
            <a:solidFill>
              <a:srgbClr val="AEB5C0">
                <a:alpha val="100000"/>
              </a:srgbClr>
            </a:solidFill>
            <a:prstDash val="dashDot"/>
            <a:miter lim="800000"/>
          </a:ln>
        </p:spPr>
      </p:sp>
      <p:sp>
        <p:nvSpPr>
          <p:cNvPr id="26" name="Text 23"/>
          <p:cNvSpPr/>
          <p:nvPr/>
        </p:nvSpPr>
        <p:spPr>
          <a:xfrm>
            <a:off x="1270000" y="5901871"/>
            <a:ext cx="9333475" cy="5017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Context:</a:t>
            </a:r>
            <a:r>
              <a:rPr lang="en-US" sz="1800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The global video game market exceeds $200B. Understanding what drives success is critical for developers, publishers, and investors.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</a:t>
            </a:r>
            <a:r>
              <a:rPr lang="en-US" altLang="zh-CN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785413" y="3125386"/>
            <a:ext cx="4773291" cy="1178598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altLang="zh-CN" sz="3400" b="1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Data &amp; Preprocessing</a:t>
            </a:r>
            <a:endParaRPr lang="en-US" altLang="zh-CN" sz="3400" b="1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-82656" y="-2667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049" y="157114"/>
            <a:ext cx="1206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zh-CN" altLang="en-US" sz="30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Dataset Structure </a:t>
            </a:r>
            <a:r>
              <a:rPr lang="en-US" altLang="zh-CN" sz="30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Introduction</a:t>
            </a:r>
            <a:endParaRPr lang="zh-CN" altLang="en-US" sz="3000" b="1" dirty="0">
              <a:solidFill>
                <a:srgbClr val="5C7CB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34925" y="1112589"/>
            <a:ext cx="3797300" cy="1828800"/>
          </a:xfrm>
          <a:custGeom>
            <a:avLst/>
            <a:gdLst/>
            <a:ahLst/>
            <a:cxnLst/>
            <a:rect l="l" t="t" r="r" b="b"/>
            <a:pathLst>
              <a:path w="3797300" h="1828800">
                <a:moveTo>
                  <a:pt x="101608" y="0"/>
                </a:moveTo>
                <a:lnTo>
                  <a:pt x="3695692" y="0"/>
                </a:lnTo>
                <a:cubicBezTo>
                  <a:pt x="3751808" y="0"/>
                  <a:pt x="3797300" y="45492"/>
                  <a:pt x="3797300" y="101608"/>
                </a:cubicBezTo>
                <a:lnTo>
                  <a:pt x="3797300" y="1727192"/>
                </a:lnTo>
                <a:cubicBezTo>
                  <a:pt x="3797300" y="1783308"/>
                  <a:pt x="3751808" y="1828800"/>
                  <a:pt x="3695692" y="1828800"/>
                </a:cubicBezTo>
                <a:lnTo>
                  <a:pt x="101608" y="1828800"/>
                </a:lnTo>
                <a:cubicBezTo>
                  <a:pt x="45492" y="1828800"/>
                  <a:pt x="0" y="1783308"/>
                  <a:pt x="0" y="17271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57066" y="1315730"/>
            <a:ext cx="41529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64,016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3766" y="2128442"/>
            <a:ext cx="3619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altLang="zh-CN" sz="18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Game record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9166" y="2483866"/>
            <a:ext cx="3568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rgbClr val="4A55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Covering 14 core variables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40110" y="1220126"/>
            <a:ext cx="3632200" cy="711200"/>
          </a:xfrm>
          <a:custGeom>
            <a:avLst/>
            <a:gdLst/>
            <a:ahLst/>
            <a:cxnLst/>
            <a:rect l="l" t="t" r="r" b="b"/>
            <a:pathLst>
              <a:path w="3632200" h="711200">
                <a:moveTo>
                  <a:pt x="76198" y="0"/>
                </a:moveTo>
                <a:lnTo>
                  <a:pt x="3556002" y="0"/>
                </a:lnTo>
                <a:cubicBezTo>
                  <a:pt x="3598085" y="0"/>
                  <a:pt x="3632200" y="34115"/>
                  <a:pt x="3632200" y="76198"/>
                </a:cubicBezTo>
                <a:lnTo>
                  <a:pt x="3632200" y="635002"/>
                </a:lnTo>
                <a:cubicBezTo>
                  <a:pt x="3632200" y="677085"/>
                  <a:pt x="3598085" y="711200"/>
                  <a:pt x="3556002" y="711200"/>
                </a:cubicBezTo>
                <a:lnTo>
                  <a:pt x="76198" y="711200"/>
                </a:lnTo>
                <a:cubicBezTo>
                  <a:pt x="34143" y="711200"/>
                  <a:pt x="0" y="677057"/>
                  <a:pt x="0" y="6350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FA7D0">
              <a:alpha val="20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4486071" y="144855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22250" y="31750"/>
                </a:moveTo>
                <a:cubicBezTo>
                  <a:pt x="274836" y="31750"/>
                  <a:pt x="317500" y="74414"/>
                  <a:pt x="317500" y="127000"/>
                </a:cubicBezTo>
                <a:cubicBezTo>
                  <a:pt x="317500" y="179586"/>
                  <a:pt x="274836" y="222250"/>
                  <a:pt x="222250" y="222250"/>
                </a:cubicBezTo>
                <a:lnTo>
                  <a:pt x="95250" y="222250"/>
                </a:lnTo>
                <a:cubicBezTo>
                  <a:pt x="42664" y="222250"/>
                  <a:pt x="0" y="179586"/>
                  <a:pt x="0" y="127000"/>
                </a:cubicBezTo>
                <a:cubicBezTo>
                  <a:pt x="0" y="74414"/>
                  <a:pt x="42664" y="31750"/>
                  <a:pt x="95250" y="31750"/>
                </a:cubicBezTo>
                <a:lnTo>
                  <a:pt x="222250" y="31750"/>
                </a:lnTo>
                <a:close/>
                <a:moveTo>
                  <a:pt x="95250" y="87313"/>
                </a:moveTo>
                <a:cubicBezTo>
                  <a:pt x="88652" y="87313"/>
                  <a:pt x="83344" y="92621"/>
                  <a:pt x="83344" y="99219"/>
                </a:cubicBezTo>
                <a:lnTo>
                  <a:pt x="83344" y="115094"/>
                </a:lnTo>
                <a:lnTo>
                  <a:pt x="67469" y="115094"/>
                </a:lnTo>
                <a:cubicBezTo>
                  <a:pt x="60871" y="115094"/>
                  <a:pt x="55563" y="120402"/>
                  <a:pt x="55563" y="127000"/>
                </a:cubicBezTo>
                <a:cubicBezTo>
                  <a:pt x="55563" y="133598"/>
                  <a:pt x="60871" y="138906"/>
                  <a:pt x="67469" y="138906"/>
                </a:cubicBezTo>
                <a:lnTo>
                  <a:pt x="83344" y="138906"/>
                </a:lnTo>
                <a:lnTo>
                  <a:pt x="83344" y="154781"/>
                </a:lnTo>
                <a:cubicBezTo>
                  <a:pt x="83344" y="161379"/>
                  <a:pt x="88652" y="166688"/>
                  <a:pt x="95250" y="166688"/>
                </a:cubicBezTo>
                <a:cubicBezTo>
                  <a:pt x="101848" y="166688"/>
                  <a:pt x="107156" y="161379"/>
                  <a:pt x="107156" y="154781"/>
                </a:cubicBezTo>
                <a:lnTo>
                  <a:pt x="107156" y="138906"/>
                </a:lnTo>
                <a:lnTo>
                  <a:pt x="123031" y="138906"/>
                </a:lnTo>
                <a:cubicBezTo>
                  <a:pt x="129629" y="138906"/>
                  <a:pt x="134938" y="133598"/>
                  <a:pt x="134938" y="127000"/>
                </a:cubicBezTo>
                <a:cubicBezTo>
                  <a:pt x="134938" y="120402"/>
                  <a:pt x="129629" y="115094"/>
                  <a:pt x="123031" y="115094"/>
                </a:cubicBezTo>
                <a:lnTo>
                  <a:pt x="107156" y="115094"/>
                </a:lnTo>
                <a:lnTo>
                  <a:pt x="107156" y="99219"/>
                </a:lnTo>
                <a:cubicBezTo>
                  <a:pt x="107156" y="92621"/>
                  <a:pt x="101848" y="87313"/>
                  <a:pt x="95250" y="87313"/>
                </a:cubicBezTo>
                <a:close/>
                <a:moveTo>
                  <a:pt x="214313" y="134938"/>
                </a:moveTo>
                <a:cubicBezTo>
                  <a:pt x="205551" y="134938"/>
                  <a:pt x="198438" y="142051"/>
                  <a:pt x="198438" y="150813"/>
                </a:cubicBezTo>
                <a:cubicBezTo>
                  <a:pt x="198438" y="159574"/>
                  <a:pt x="205551" y="166688"/>
                  <a:pt x="214313" y="166688"/>
                </a:cubicBezTo>
                <a:cubicBezTo>
                  <a:pt x="223074" y="166688"/>
                  <a:pt x="230188" y="159574"/>
                  <a:pt x="230188" y="150813"/>
                </a:cubicBezTo>
                <a:cubicBezTo>
                  <a:pt x="230188" y="142051"/>
                  <a:pt x="223074" y="134938"/>
                  <a:pt x="214313" y="134938"/>
                </a:cubicBezTo>
                <a:close/>
                <a:moveTo>
                  <a:pt x="246063" y="87313"/>
                </a:moveTo>
                <a:cubicBezTo>
                  <a:pt x="237301" y="87313"/>
                  <a:pt x="230188" y="94426"/>
                  <a:pt x="230188" y="103188"/>
                </a:cubicBezTo>
                <a:cubicBezTo>
                  <a:pt x="230188" y="111949"/>
                  <a:pt x="237301" y="119063"/>
                  <a:pt x="246063" y="119063"/>
                </a:cubicBezTo>
                <a:cubicBezTo>
                  <a:pt x="254824" y="119063"/>
                  <a:pt x="261937" y="111949"/>
                  <a:pt x="261937" y="103188"/>
                </a:cubicBezTo>
                <a:cubicBezTo>
                  <a:pt x="261937" y="94426"/>
                  <a:pt x="254824" y="87313"/>
                  <a:pt x="246063" y="87313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11" name="Text 8"/>
          <p:cNvSpPr/>
          <p:nvPr/>
        </p:nvSpPr>
        <p:spPr>
          <a:xfrm>
            <a:off x="5000260" y="1220157"/>
            <a:ext cx="2317847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Platform </a:t>
            </a:r>
            <a:r>
              <a:rPr lang="zh-CN" altLang="en-US" sz="16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&amp; </a:t>
            </a:r>
            <a:r>
              <a:rPr lang="en-US" altLang="zh-CN" sz="16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Genre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00260" y="1575586"/>
            <a:ext cx="2697612" cy="304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200" dirty="0">
                <a:solidFill>
                  <a:srgbClr val="4A55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Hardware ecosystem and content classification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00862" y="1220095"/>
            <a:ext cx="3632200" cy="711200"/>
          </a:xfrm>
          <a:custGeom>
            <a:avLst/>
            <a:gdLst/>
            <a:ahLst/>
            <a:cxnLst/>
            <a:rect l="l" t="t" r="r" b="b"/>
            <a:pathLst>
              <a:path w="3632200" h="711200">
                <a:moveTo>
                  <a:pt x="76198" y="0"/>
                </a:moveTo>
                <a:lnTo>
                  <a:pt x="3556002" y="0"/>
                </a:lnTo>
                <a:cubicBezTo>
                  <a:pt x="3598085" y="0"/>
                  <a:pt x="3632200" y="34115"/>
                  <a:pt x="3632200" y="76198"/>
                </a:cubicBezTo>
                <a:lnTo>
                  <a:pt x="3632200" y="635002"/>
                </a:lnTo>
                <a:cubicBezTo>
                  <a:pt x="3632200" y="677085"/>
                  <a:pt x="3598085" y="711200"/>
                  <a:pt x="3556002" y="711200"/>
                </a:cubicBezTo>
                <a:lnTo>
                  <a:pt x="76198" y="711200"/>
                </a:lnTo>
                <a:cubicBezTo>
                  <a:pt x="34143" y="711200"/>
                  <a:pt x="0" y="677057"/>
                  <a:pt x="0" y="6350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FA7D0">
              <a:alpha val="20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8510323" y="1448519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1750" y="0"/>
                </a:moveTo>
                <a:cubicBezTo>
                  <a:pt x="14238" y="0"/>
                  <a:pt x="0" y="14238"/>
                  <a:pt x="0" y="317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58750" y="254000"/>
                </a:lnTo>
                <a:cubicBezTo>
                  <a:pt x="176262" y="254000"/>
                  <a:pt x="190500" y="239762"/>
                  <a:pt x="190500" y="222250"/>
                </a:cubicBezTo>
                <a:lnTo>
                  <a:pt x="190500" y="31750"/>
                </a:lnTo>
                <a:cubicBezTo>
                  <a:pt x="190500" y="14238"/>
                  <a:pt x="176262" y="0"/>
                  <a:pt x="158750" y="0"/>
                </a:cubicBezTo>
                <a:lnTo>
                  <a:pt x="31750" y="0"/>
                </a:lnTo>
                <a:close/>
                <a:moveTo>
                  <a:pt x="87313" y="174625"/>
                </a:moveTo>
                <a:lnTo>
                  <a:pt x="103188" y="174625"/>
                </a:lnTo>
                <a:cubicBezTo>
                  <a:pt x="111968" y="174625"/>
                  <a:pt x="119063" y="181719"/>
                  <a:pt x="119063" y="190500"/>
                </a:cubicBezTo>
                <a:lnTo>
                  <a:pt x="119063" y="230188"/>
                </a:lnTo>
                <a:lnTo>
                  <a:pt x="71438" y="230188"/>
                </a:lnTo>
                <a:lnTo>
                  <a:pt x="71438" y="190500"/>
                </a:lnTo>
                <a:cubicBezTo>
                  <a:pt x="71438" y="181719"/>
                  <a:pt x="78532" y="174625"/>
                  <a:pt x="87313" y="174625"/>
                </a:cubicBezTo>
                <a:close/>
                <a:moveTo>
                  <a:pt x="47625" y="55563"/>
                </a:moveTo>
                <a:cubicBezTo>
                  <a:pt x="47625" y="51197"/>
                  <a:pt x="51197" y="47625"/>
                  <a:pt x="55563" y="47625"/>
                </a:cubicBezTo>
                <a:lnTo>
                  <a:pt x="71438" y="47625"/>
                </a:lnTo>
                <a:cubicBezTo>
                  <a:pt x="75803" y="47625"/>
                  <a:pt x="79375" y="51197"/>
                  <a:pt x="79375" y="55563"/>
                </a:cubicBezTo>
                <a:lnTo>
                  <a:pt x="79375" y="71438"/>
                </a:lnTo>
                <a:cubicBezTo>
                  <a:pt x="79375" y="75803"/>
                  <a:pt x="75803" y="79375"/>
                  <a:pt x="71438" y="79375"/>
                </a:cubicBezTo>
                <a:lnTo>
                  <a:pt x="55563" y="79375"/>
                </a:lnTo>
                <a:cubicBezTo>
                  <a:pt x="51197" y="79375"/>
                  <a:pt x="47625" y="75803"/>
                  <a:pt x="47625" y="71438"/>
                </a:cubicBezTo>
                <a:lnTo>
                  <a:pt x="47625" y="55563"/>
                </a:lnTo>
                <a:close/>
                <a:moveTo>
                  <a:pt x="119063" y="47625"/>
                </a:moveTo>
                <a:lnTo>
                  <a:pt x="134938" y="47625"/>
                </a:lnTo>
                <a:cubicBezTo>
                  <a:pt x="139303" y="47625"/>
                  <a:pt x="142875" y="51197"/>
                  <a:pt x="142875" y="55563"/>
                </a:cubicBezTo>
                <a:lnTo>
                  <a:pt x="142875" y="71438"/>
                </a:lnTo>
                <a:cubicBezTo>
                  <a:pt x="142875" y="75803"/>
                  <a:pt x="139303" y="79375"/>
                  <a:pt x="134938" y="79375"/>
                </a:cubicBezTo>
                <a:lnTo>
                  <a:pt x="119063" y="79375"/>
                </a:lnTo>
                <a:cubicBezTo>
                  <a:pt x="114697" y="79375"/>
                  <a:pt x="111125" y="75803"/>
                  <a:pt x="111125" y="71438"/>
                </a:cubicBezTo>
                <a:lnTo>
                  <a:pt x="111125" y="55563"/>
                </a:lnTo>
                <a:cubicBezTo>
                  <a:pt x="111125" y="51197"/>
                  <a:pt x="114697" y="47625"/>
                  <a:pt x="119063" y="47625"/>
                </a:cubicBezTo>
                <a:close/>
                <a:moveTo>
                  <a:pt x="47625" y="119063"/>
                </a:moveTo>
                <a:cubicBezTo>
                  <a:pt x="47625" y="114697"/>
                  <a:pt x="51197" y="111125"/>
                  <a:pt x="55563" y="111125"/>
                </a:cubicBezTo>
                <a:lnTo>
                  <a:pt x="71438" y="111125"/>
                </a:lnTo>
                <a:cubicBezTo>
                  <a:pt x="75803" y="111125"/>
                  <a:pt x="79375" y="114697"/>
                  <a:pt x="79375" y="119063"/>
                </a:cubicBezTo>
                <a:lnTo>
                  <a:pt x="79375" y="134938"/>
                </a:lnTo>
                <a:cubicBezTo>
                  <a:pt x="79375" y="139303"/>
                  <a:pt x="75803" y="142875"/>
                  <a:pt x="71438" y="142875"/>
                </a:cubicBezTo>
                <a:lnTo>
                  <a:pt x="55563" y="142875"/>
                </a:lnTo>
                <a:cubicBezTo>
                  <a:pt x="51197" y="142875"/>
                  <a:pt x="47625" y="139303"/>
                  <a:pt x="47625" y="134938"/>
                </a:cubicBezTo>
                <a:lnTo>
                  <a:pt x="47625" y="119063"/>
                </a:lnTo>
                <a:close/>
                <a:moveTo>
                  <a:pt x="119063" y="111125"/>
                </a:moveTo>
                <a:lnTo>
                  <a:pt x="134938" y="111125"/>
                </a:lnTo>
                <a:cubicBezTo>
                  <a:pt x="139303" y="111125"/>
                  <a:pt x="142875" y="114697"/>
                  <a:pt x="142875" y="119063"/>
                </a:cubicBezTo>
                <a:lnTo>
                  <a:pt x="142875" y="134938"/>
                </a:lnTo>
                <a:cubicBezTo>
                  <a:pt x="142875" y="139303"/>
                  <a:pt x="139303" y="142875"/>
                  <a:pt x="134938" y="142875"/>
                </a:cubicBezTo>
                <a:lnTo>
                  <a:pt x="119063" y="142875"/>
                </a:lnTo>
                <a:cubicBezTo>
                  <a:pt x="114697" y="142875"/>
                  <a:pt x="111125" y="139303"/>
                  <a:pt x="111125" y="134938"/>
                </a:cubicBezTo>
                <a:lnTo>
                  <a:pt x="111125" y="119063"/>
                </a:lnTo>
                <a:cubicBezTo>
                  <a:pt x="111125" y="114697"/>
                  <a:pt x="114697" y="111125"/>
                  <a:pt x="119063" y="111125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15" name="Text 12"/>
          <p:cNvSpPr/>
          <p:nvPr/>
        </p:nvSpPr>
        <p:spPr>
          <a:xfrm>
            <a:off x="8960997" y="1321666"/>
            <a:ext cx="2653997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Developer </a:t>
            </a:r>
            <a:r>
              <a:rPr lang="zh-CN" altLang="en-US" sz="16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&amp; </a:t>
            </a:r>
            <a:r>
              <a:rPr lang="en-US" altLang="zh-CN" sz="16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Publisher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960997" y="1626378"/>
            <a:ext cx="2491981" cy="2541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200" dirty="0">
                <a:solidFill>
                  <a:srgbClr val="4A55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 creation and brand power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340110" y="2134262"/>
            <a:ext cx="3632200" cy="711200"/>
          </a:xfrm>
          <a:custGeom>
            <a:avLst/>
            <a:gdLst/>
            <a:ahLst/>
            <a:cxnLst/>
            <a:rect l="l" t="t" r="r" b="b"/>
            <a:pathLst>
              <a:path w="3632200" h="711200">
                <a:moveTo>
                  <a:pt x="76198" y="0"/>
                </a:moveTo>
                <a:lnTo>
                  <a:pt x="3556002" y="0"/>
                </a:lnTo>
                <a:cubicBezTo>
                  <a:pt x="3598085" y="0"/>
                  <a:pt x="3632200" y="34115"/>
                  <a:pt x="3632200" y="76198"/>
                </a:cubicBezTo>
                <a:lnTo>
                  <a:pt x="3632200" y="635002"/>
                </a:lnTo>
                <a:cubicBezTo>
                  <a:pt x="3632200" y="677085"/>
                  <a:pt x="3598085" y="711200"/>
                  <a:pt x="3556002" y="711200"/>
                </a:cubicBezTo>
                <a:lnTo>
                  <a:pt x="76198" y="711200"/>
                </a:lnTo>
                <a:cubicBezTo>
                  <a:pt x="34143" y="711200"/>
                  <a:pt x="0" y="677057"/>
                  <a:pt x="0" y="6350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FA7D0">
              <a:alpha val="20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4501946" y="2362686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925" y="175419"/>
                </a:moveTo>
                <a:cubicBezTo>
                  <a:pt x="147886" y="175419"/>
                  <a:pt x="152797" y="176560"/>
                  <a:pt x="157311" y="178891"/>
                </a:cubicBezTo>
                <a:lnTo>
                  <a:pt x="194221" y="197693"/>
                </a:lnTo>
                <a:lnTo>
                  <a:pt x="187771" y="156766"/>
                </a:lnTo>
                <a:cubicBezTo>
                  <a:pt x="186184" y="146745"/>
                  <a:pt x="189508" y="136575"/>
                  <a:pt x="196652" y="129381"/>
                </a:cubicBezTo>
                <a:lnTo>
                  <a:pt x="225921" y="100062"/>
                </a:lnTo>
                <a:lnTo>
                  <a:pt x="184993" y="93563"/>
                </a:lnTo>
                <a:cubicBezTo>
                  <a:pt x="174972" y="91976"/>
                  <a:pt x="166291" y="85675"/>
                  <a:pt x="161677" y="76646"/>
                </a:cubicBezTo>
                <a:lnTo>
                  <a:pt x="142825" y="39737"/>
                </a:lnTo>
                <a:lnTo>
                  <a:pt x="142825" y="175468"/>
                </a:lnTo>
                <a:close/>
                <a:moveTo>
                  <a:pt x="226913" y="242590"/>
                </a:moveTo>
                <a:cubicBezTo>
                  <a:pt x="223292" y="245219"/>
                  <a:pt x="218480" y="245616"/>
                  <a:pt x="214511" y="243582"/>
                </a:cubicBezTo>
                <a:lnTo>
                  <a:pt x="142925" y="207169"/>
                </a:lnTo>
                <a:lnTo>
                  <a:pt x="71338" y="243582"/>
                </a:lnTo>
                <a:cubicBezTo>
                  <a:pt x="67370" y="245616"/>
                  <a:pt x="62557" y="245219"/>
                  <a:pt x="58936" y="242590"/>
                </a:cubicBezTo>
                <a:cubicBezTo>
                  <a:pt x="55314" y="239961"/>
                  <a:pt x="53479" y="235545"/>
                  <a:pt x="54173" y="231080"/>
                </a:cubicBezTo>
                <a:lnTo>
                  <a:pt x="66675" y="151755"/>
                </a:lnTo>
                <a:lnTo>
                  <a:pt x="9922" y="94952"/>
                </a:lnTo>
                <a:cubicBezTo>
                  <a:pt x="6747" y="91777"/>
                  <a:pt x="5655" y="87114"/>
                  <a:pt x="7045" y="82848"/>
                </a:cubicBezTo>
                <a:cubicBezTo>
                  <a:pt x="8434" y="78581"/>
                  <a:pt x="12055" y="75456"/>
                  <a:pt x="16520" y="74761"/>
                </a:cubicBezTo>
                <a:lnTo>
                  <a:pt x="95845" y="62161"/>
                </a:lnTo>
                <a:lnTo>
                  <a:pt x="132358" y="-9376"/>
                </a:lnTo>
                <a:cubicBezTo>
                  <a:pt x="134392" y="-13345"/>
                  <a:pt x="138509" y="-15875"/>
                  <a:pt x="142974" y="-15875"/>
                </a:cubicBezTo>
                <a:cubicBezTo>
                  <a:pt x="147439" y="-15875"/>
                  <a:pt x="151557" y="-13345"/>
                  <a:pt x="153591" y="-9376"/>
                </a:cubicBezTo>
                <a:lnTo>
                  <a:pt x="190004" y="62161"/>
                </a:lnTo>
                <a:lnTo>
                  <a:pt x="269329" y="74761"/>
                </a:lnTo>
                <a:cubicBezTo>
                  <a:pt x="273745" y="75456"/>
                  <a:pt x="277416" y="78581"/>
                  <a:pt x="278805" y="82848"/>
                </a:cubicBezTo>
                <a:cubicBezTo>
                  <a:pt x="280194" y="87114"/>
                  <a:pt x="279053" y="91777"/>
                  <a:pt x="275927" y="94952"/>
                </a:cubicBezTo>
                <a:lnTo>
                  <a:pt x="219125" y="151755"/>
                </a:lnTo>
                <a:lnTo>
                  <a:pt x="231676" y="231080"/>
                </a:lnTo>
                <a:cubicBezTo>
                  <a:pt x="232370" y="235496"/>
                  <a:pt x="230535" y="239961"/>
                  <a:pt x="226913" y="24259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19" name="Text 16"/>
          <p:cNvSpPr/>
          <p:nvPr/>
        </p:nvSpPr>
        <p:spPr>
          <a:xfrm>
            <a:off x="5000245" y="2235833"/>
            <a:ext cx="269758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Game ratings</a:t>
            </a:r>
            <a:r>
              <a:rPr lang="en-US" sz="16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(critic_score)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00245" y="2540544"/>
            <a:ext cx="19177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200" dirty="0">
                <a:solidFill>
                  <a:srgbClr val="4A55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Evaluation and Reputation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300862" y="2134231"/>
            <a:ext cx="3632200" cy="711200"/>
          </a:xfrm>
          <a:custGeom>
            <a:avLst/>
            <a:gdLst/>
            <a:ahLst/>
            <a:cxnLst/>
            <a:rect l="l" t="t" r="r" b="b"/>
            <a:pathLst>
              <a:path w="3632200" h="711200">
                <a:moveTo>
                  <a:pt x="76198" y="0"/>
                </a:moveTo>
                <a:lnTo>
                  <a:pt x="3556002" y="0"/>
                </a:lnTo>
                <a:cubicBezTo>
                  <a:pt x="3598085" y="0"/>
                  <a:pt x="3632200" y="34115"/>
                  <a:pt x="3632200" y="76198"/>
                </a:cubicBezTo>
                <a:lnTo>
                  <a:pt x="3632200" y="635002"/>
                </a:lnTo>
                <a:cubicBezTo>
                  <a:pt x="3632200" y="677085"/>
                  <a:pt x="3598085" y="711200"/>
                  <a:pt x="3556002" y="711200"/>
                </a:cubicBezTo>
                <a:lnTo>
                  <a:pt x="76198" y="711200"/>
                </a:lnTo>
                <a:cubicBezTo>
                  <a:pt x="34143" y="711200"/>
                  <a:pt x="0" y="677057"/>
                  <a:pt x="0" y="6350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FA7D0">
              <a:alpha val="20000"/>
            </a:srgbClr>
          </a:solidFill>
        </p:spPr>
      </p:sp>
      <p:sp>
        <p:nvSpPr>
          <p:cNvPr id="22" name="Shape 19"/>
          <p:cNvSpPr/>
          <p:nvPr/>
        </p:nvSpPr>
        <p:spPr>
          <a:xfrm>
            <a:off x="8478573" y="236265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7632" y="99070"/>
                </a:moveTo>
                <a:lnTo>
                  <a:pt x="42962" y="114399"/>
                </a:lnTo>
                <a:cubicBezTo>
                  <a:pt x="45938" y="117376"/>
                  <a:pt x="49957" y="119063"/>
                  <a:pt x="54173" y="119063"/>
                </a:cubicBezTo>
                <a:lnTo>
                  <a:pt x="64839" y="119063"/>
                </a:lnTo>
                <a:cubicBezTo>
                  <a:pt x="69056" y="119063"/>
                  <a:pt x="73075" y="120749"/>
                  <a:pt x="76051" y="123726"/>
                </a:cubicBezTo>
                <a:lnTo>
                  <a:pt x="90587" y="138261"/>
                </a:lnTo>
                <a:cubicBezTo>
                  <a:pt x="93563" y="141238"/>
                  <a:pt x="95250" y="145256"/>
                  <a:pt x="95250" y="149473"/>
                </a:cubicBezTo>
                <a:lnTo>
                  <a:pt x="95250" y="168077"/>
                </a:lnTo>
                <a:cubicBezTo>
                  <a:pt x="95250" y="172293"/>
                  <a:pt x="96937" y="176312"/>
                  <a:pt x="99913" y="179288"/>
                </a:cubicBezTo>
                <a:lnTo>
                  <a:pt x="106511" y="185886"/>
                </a:lnTo>
                <a:cubicBezTo>
                  <a:pt x="109488" y="188863"/>
                  <a:pt x="111175" y="192881"/>
                  <a:pt x="111175" y="197098"/>
                </a:cubicBezTo>
                <a:lnTo>
                  <a:pt x="111175" y="206375"/>
                </a:lnTo>
                <a:cubicBezTo>
                  <a:pt x="111175" y="215156"/>
                  <a:pt x="118269" y="222250"/>
                  <a:pt x="127050" y="222250"/>
                </a:cubicBezTo>
                <a:cubicBezTo>
                  <a:pt x="135830" y="222250"/>
                  <a:pt x="142925" y="215156"/>
                  <a:pt x="142925" y="206375"/>
                </a:cubicBezTo>
                <a:lnTo>
                  <a:pt x="142925" y="205036"/>
                </a:lnTo>
                <a:cubicBezTo>
                  <a:pt x="142925" y="200819"/>
                  <a:pt x="144611" y="196800"/>
                  <a:pt x="147588" y="193824"/>
                </a:cubicBezTo>
                <a:lnTo>
                  <a:pt x="170061" y="171351"/>
                </a:lnTo>
                <a:cubicBezTo>
                  <a:pt x="173038" y="168374"/>
                  <a:pt x="174724" y="164356"/>
                  <a:pt x="174724" y="160139"/>
                </a:cubicBezTo>
                <a:lnTo>
                  <a:pt x="174724" y="142925"/>
                </a:lnTo>
                <a:cubicBezTo>
                  <a:pt x="174724" y="134144"/>
                  <a:pt x="167630" y="127050"/>
                  <a:pt x="158849" y="127050"/>
                </a:cubicBezTo>
                <a:lnTo>
                  <a:pt x="117822" y="127050"/>
                </a:lnTo>
                <a:cubicBezTo>
                  <a:pt x="113605" y="127050"/>
                  <a:pt x="109587" y="125363"/>
                  <a:pt x="106611" y="122386"/>
                </a:cubicBezTo>
                <a:lnTo>
                  <a:pt x="98673" y="114449"/>
                </a:lnTo>
                <a:cubicBezTo>
                  <a:pt x="96589" y="112365"/>
                  <a:pt x="95399" y="109488"/>
                  <a:pt x="95399" y="106511"/>
                </a:cubicBezTo>
                <a:cubicBezTo>
                  <a:pt x="95399" y="100310"/>
                  <a:pt x="100409" y="95300"/>
                  <a:pt x="106611" y="95300"/>
                </a:cubicBezTo>
                <a:lnTo>
                  <a:pt x="123825" y="95300"/>
                </a:lnTo>
                <a:cubicBezTo>
                  <a:pt x="130026" y="95300"/>
                  <a:pt x="135037" y="90289"/>
                  <a:pt x="135037" y="84088"/>
                </a:cubicBezTo>
                <a:cubicBezTo>
                  <a:pt x="135037" y="81111"/>
                  <a:pt x="133846" y="78234"/>
                  <a:pt x="131763" y="76150"/>
                </a:cubicBezTo>
                <a:lnTo>
                  <a:pt x="121989" y="66377"/>
                </a:lnTo>
                <a:cubicBezTo>
                  <a:pt x="120055" y="64492"/>
                  <a:pt x="119063" y="62061"/>
                  <a:pt x="119063" y="59531"/>
                </a:cubicBezTo>
                <a:cubicBezTo>
                  <a:pt x="119063" y="57001"/>
                  <a:pt x="120055" y="54570"/>
                  <a:pt x="121890" y="52735"/>
                </a:cubicBezTo>
                <a:lnTo>
                  <a:pt x="130473" y="44152"/>
                </a:lnTo>
                <a:cubicBezTo>
                  <a:pt x="133350" y="41275"/>
                  <a:pt x="134987" y="37356"/>
                  <a:pt x="134987" y="33288"/>
                </a:cubicBezTo>
                <a:cubicBezTo>
                  <a:pt x="134987" y="29716"/>
                  <a:pt x="133796" y="26491"/>
                  <a:pt x="131812" y="23912"/>
                </a:cubicBezTo>
                <a:cubicBezTo>
                  <a:pt x="130225" y="23862"/>
                  <a:pt x="128637" y="23812"/>
                  <a:pt x="127050" y="23812"/>
                </a:cubicBezTo>
                <a:cubicBezTo>
                  <a:pt x="79722" y="23812"/>
                  <a:pt x="39886" y="55662"/>
                  <a:pt x="27682" y="99070"/>
                </a:cubicBezTo>
                <a:close/>
                <a:moveTo>
                  <a:pt x="230188" y="127000"/>
                </a:moveTo>
                <a:cubicBezTo>
                  <a:pt x="230188" y="109835"/>
                  <a:pt x="226020" y="93663"/>
                  <a:pt x="218579" y="79474"/>
                </a:cubicBezTo>
                <a:cubicBezTo>
                  <a:pt x="215404" y="79921"/>
                  <a:pt x="212279" y="81409"/>
                  <a:pt x="209699" y="83989"/>
                </a:cubicBezTo>
                <a:lnTo>
                  <a:pt x="203051" y="90636"/>
                </a:lnTo>
                <a:cubicBezTo>
                  <a:pt x="200075" y="93613"/>
                  <a:pt x="198388" y="97631"/>
                  <a:pt x="198388" y="101848"/>
                </a:cubicBezTo>
                <a:lnTo>
                  <a:pt x="198388" y="119063"/>
                </a:lnTo>
                <a:cubicBezTo>
                  <a:pt x="198388" y="127843"/>
                  <a:pt x="205482" y="134938"/>
                  <a:pt x="214263" y="134938"/>
                </a:cubicBezTo>
                <a:lnTo>
                  <a:pt x="226219" y="134938"/>
                </a:lnTo>
                <a:cubicBezTo>
                  <a:pt x="227459" y="134938"/>
                  <a:pt x="228699" y="134789"/>
                  <a:pt x="229840" y="134541"/>
                </a:cubicBezTo>
                <a:cubicBezTo>
                  <a:pt x="230039" y="132060"/>
                  <a:pt x="230088" y="129530"/>
                  <a:pt x="230088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3" name="Text 20"/>
          <p:cNvSpPr/>
          <p:nvPr/>
        </p:nvSpPr>
        <p:spPr>
          <a:xfrm>
            <a:off x="8961013" y="2134318"/>
            <a:ext cx="304943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Regional Sales Volume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961013" y="2540626"/>
            <a:ext cx="2800913" cy="2032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200" dirty="0">
                <a:solidFill>
                  <a:srgbClr val="4A55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Market performance and regional differences</a:t>
            </a:r>
            <a:endParaRPr lang="en-US" sz="1600" dirty="0"/>
          </a:p>
        </p:txBody>
      </p:sp>
      <p:pic>
        <p:nvPicPr>
          <p:cNvPr id="29" name="Picture 28" descr="upload_post_object_v2_15293235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51" y="3141795"/>
            <a:ext cx="7140236" cy="1741672"/>
          </a:xfrm>
          <a:prstGeom prst="rect">
            <a:avLst/>
          </a:prstGeom>
        </p:spPr>
      </p:pic>
      <p:pic>
        <p:nvPicPr>
          <p:cNvPr id="30" name="Picture 29" descr="upload_post_object_v2_16541946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61" y="4978745"/>
            <a:ext cx="7140236" cy="1741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-36344" y="-47172"/>
            <a:ext cx="12241044" cy="6905172"/>
          </a:xfrm>
          <a:prstGeom prst="rect">
            <a:avLst/>
          </a:prstGeom>
        </p:spPr>
      </p:pic>
      <p:grpSp>
        <p:nvGrpSpPr>
          <p:cNvPr id="39" name="Group 38"/>
          <p:cNvGrpSpPr/>
          <p:nvPr userDrawn="1"/>
        </p:nvGrpSpPr>
        <p:grpSpPr>
          <a:xfrm>
            <a:off x="150813" y="1617345"/>
            <a:ext cx="11903075" cy="1069340"/>
            <a:chOff x="-1545" y="3047"/>
            <a:chExt cx="20745" cy="1234"/>
          </a:xfrm>
        </p:grpSpPr>
        <p:sp>
          <p:nvSpPr>
            <p:cNvPr id="32" name="Rectangles 31"/>
            <p:cNvSpPr/>
            <p:nvPr userDrawn="1"/>
          </p:nvSpPr>
          <p:spPr>
            <a:xfrm>
              <a:off x="15994" y="3047"/>
              <a:ext cx="3206" cy="1234"/>
            </a:xfrm>
            <a:prstGeom prst="rect">
              <a:avLst/>
            </a:prstGeom>
            <a:solidFill>
              <a:srgbClr val="38A166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en-US" altLang="zh-CN">
                  <a:solidFill>
                    <a:srgbClr val="FFFFFF"/>
                  </a:solidFill>
                </a:rPr>
                <a:t>Dataset Ready</a:t>
              </a:r>
              <a:endParaRPr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36" name="Group 35"/>
            <p:cNvGrpSpPr/>
            <p:nvPr userDrawn="1"/>
          </p:nvGrpSpPr>
          <p:grpSpPr>
            <a:xfrm>
              <a:off x="2785" y="3047"/>
              <a:ext cx="12088" cy="1234"/>
              <a:chOff x="1333" y="1922"/>
              <a:chExt cx="12088" cy="1234"/>
            </a:xfrm>
          </p:grpSpPr>
          <p:sp>
            <p:nvSpPr>
              <p:cNvPr id="31" name="Rectangles 30"/>
              <p:cNvSpPr/>
              <p:nvPr userDrawn="1"/>
            </p:nvSpPr>
            <p:spPr>
              <a:xfrm>
                <a:off x="1333" y="1922"/>
                <a:ext cx="3206" cy="1234"/>
              </a:xfrm>
              <a:prstGeom prst="rect">
                <a:avLst/>
              </a:prstGeom>
              <a:solidFill>
                <a:srgbClr val="0066CC">
                  <a:alpha val="100000"/>
                </a:srgbClr>
              </a:solidFill>
              <a:ln w="12700" cap="flat" cmpd="sng" algn="ctr">
                <a:solidFill>
                  <a:srgbClr val="AEB5C0">
                    <a:alpha val="100000"/>
                  </a:srgb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algn="ctr"/>
                <a:r>
                  <a:rPr lang="zh-CN" altLang="en-US">
                    <a:solidFill>
                      <a:srgbClr val="FFFFFF"/>
                    </a:solidFill>
                  </a:rPr>
                  <a:t>Data Cleaning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Rectangles 32"/>
              <p:cNvSpPr/>
              <p:nvPr userDrawn="1"/>
            </p:nvSpPr>
            <p:spPr>
              <a:xfrm>
                <a:off x="10215" y="1922"/>
                <a:ext cx="3206" cy="1234"/>
              </a:xfrm>
              <a:prstGeom prst="rect">
                <a:avLst/>
              </a:prstGeom>
              <a:solidFill>
                <a:srgbClr val="0070C0">
                  <a:alpha val="100000"/>
                </a:srgbClr>
              </a:solidFill>
              <a:ln w="57150" cmpd="sng">
                <a:noFill/>
                <a:prstDash val="solid"/>
                <a:miter lim="800000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algn="ctr"/>
                <a:r>
                  <a:rPr lang="en-US" altLang="zh-CN">
                    <a:solidFill>
                      <a:srgbClr val="FFFFFF"/>
                    </a:solidFill>
                  </a:rPr>
                  <a:t>Data</a:t>
                </a:r>
                <a:endParaRPr lang="en-US" altLang="zh-CN">
                  <a:solidFill>
                    <a:srgbClr val="FFFFFF"/>
                  </a:solidFill>
                </a:endParaRPr>
              </a:p>
              <a:p>
                <a:pPr algn="ctr"/>
                <a:r>
                  <a:rPr lang="zh-CN" altLang="en-US">
                    <a:solidFill>
                      <a:srgbClr val="FFFFFF"/>
                    </a:solidFill>
                  </a:rPr>
                  <a:t>Transformation 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Rectangles 33"/>
              <p:cNvSpPr/>
              <p:nvPr userDrawn="1"/>
            </p:nvSpPr>
            <p:spPr>
              <a:xfrm>
                <a:off x="5776" y="1922"/>
                <a:ext cx="3206" cy="1234"/>
              </a:xfrm>
              <a:prstGeom prst="rect">
                <a:avLst/>
              </a:prstGeom>
              <a:solidFill>
                <a:srgbClr val="0066CC">
                  <a:alpha val="100000"/>
                </a:srgbClr>
              </a:solidFill>
              <a:ln w="12700" cap="flat" cmpd="sng" algn="ctr">
                <a:solidFill>
                  <a:srgbClr val="AEB5C0">
                    <a:alpha val="100000"/>
                  </a:srgbClr>
                </a:solidFill>
                <a:prstDash val="solid"/>
                <a:miter lim="800000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p>
                <a:pPr algn="ctr"/>
                <a:r>
                  <a:rPr lang="en-US" altLang="zh-CN">
                    <a:solidFill>
                      <a:srgbClr val="FFFFFF"/>
                    </a:solidFill>
                  </a:rPr>
                  <a:t>Data Reduction</a:t>
                </a: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37" name="Rectangles 36"/>
            <p:cNvSpPr/>
            <p:nvPr userDrawn="1"/>
          </p:nvSpPr>
          <p:spPr>
            <a:xfrm>
              <a:off x="-1545" y="3047"/>
              <a:ext cx="3206" cy="1234"/>
            </a:xfrm>
            <a:prstGeom prst="rect">
              <a:avLst/>
            </a:prstGeom>
            <a:solidFill>
              <a:srgbClr val="002060">
                <a:alpha val="100000"/>
              </a:srgbClr>
            </a:solidFill>
            <a:ln w="12700" cap="flat" cmpd="sng" algn="ctr">
              <a:solidFill>
                <a:srgbClr val="AEB5C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en-US" altLang="zh-CN">
                  <a:solidFill>
                    <a:srgbClr val="FFFFFF"/>
                  </a:solidFill>
                </a:rPr>
                <a:t>Raw Dataset</a:t>
              </a: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40" name="Text 0"/>
          <p:cNvSpPr/>
          <p:nvPr/>
        </p:nvSpPr>
        <p:spPr>
          <a:xfrm>
            <a:off x="57049" y="506364"/>
            <a:ext cx="12065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algn="ctr">
              <a:lnSpc>
                <a:spcPct val="100000"/>
              </a:lnSpc>
            </a:pPr>
            <a:r>
              <a:rPr lang="zh-CN" altLang="en-US" sz="30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Dataset </a:t>
            </a:r>
            <a:r>
              <a:rPr lang="en-US" altLang="zh-CN" sz="30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Preprocessing</a:t>
            </a:r>
            <a:endParaRPr lang="zh-CN" altLang="en-US" sz="3000" b="1" dirty="0">
              <a:solidFill>
                <a:srgbClr val="5C7CB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2" name="Curved Down Arrow 41"/>
          <p:cNvSpPr/>
          <p:nvPr userDrawn="1"/>
        </p:nvSpPr>
        <p:spPr>
          <a:xfrm>
            <a:off x="1622778" y="1098762"/>
            <a:ext cx="1524000" cy="518583"/>
          </a:xfrm>
          <a:prstGeom prst="curvedDownArrow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4" name="Curved Down Arrow 43"/>
          <p:cNvSpPr/>
          <p:nvPr userDrawn="1"/>
        </p:nvSpPr>
        <p:spPr>
          <a:xfrm>
            <a:off x="9158111" y="1098762"/>
            <a:ext cx="1524000" cy="518583"/>
          </a:xfrm>
          <a:prstGeom prst="curvedDownArrow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5" name="Right Arrow 44"/>
          <p:cNvSpPr/>
          <p:nvPr userDrawn="1"/>
        </p:nvSpPr>
        <p:spPr>
          <a:xfrm>
            <a:off x="4496647" y="2025015"/>
            <a:ext cx="687917" cy="254000"/>
          </a:xfrm>
          <a:prstGeom prst="rightArrow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6" name="Right Arrow 45"/>
          <p:cNvSpPr/>
          <p:nvPr userDrawn="1"/>
        </p:nvSpPr>
        <p:spPr>
          <a:xfrm>
            <a:off x="7024158" y="2025015"/>
            <a:ext cx="707390" cy="254000"/>
          </a:xfrm>
          <a:prstGeom prst="rightArrow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7" name="Right Arrow 46"/>
          <p:cNvSpPr/>
          <p:nvPr userDrawn="1"/>
        </p:nvSpPr>
        <p:spPr>
          <a:xfrm>
            <a:off x="9571143" y="2025015"/>
            <a:ext cx="643255" cy="254000"/>
          </a:xfrm>
          <a:prstGeom prst="rightArrow">
            <a:avLst/>
          </a:prstGeom>
          <a:solidFill>
            <a:srgbClr val="E2E6ED">
              <a:alpha val="100000"/>
            </a:srgbClr>
          </a:soli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6" name="图片 5" descr="upload_post_object_v2_16144999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110" y="2836409"/>
            <a:ext cx="4799929" cy="3384867"/>
          </a:xfrm>
          <a:prstGeom prst="rect">
            <a:avLst/>
          </a:prstGeom>
        </p:spPr>
      </p:pic>
      <p:graphicFrame>
        <p:nvGraphicFramePr>
          <p:cNvPr id="10" name="表格 9"/>
          <p:cNvGraphicFramePr/>
          <p:nvPr/>
        </p:nvGraphicFramePr>
        <p:xfrm>
          <a:off x="220300" y="2836409"/>
          <a:ext cx="6393180" cy="33870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96590"/>
                <a:gridCol w="3196590"/>
              </a:tblGrid>
              <a:tr h="48387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Dataset Overview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B>
                  </a:tcPr>
                </a:tc>
                <a:tc hMerge="1"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83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Attribute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Value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83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Raw data source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vgchartz-2024.csv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83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Initial shape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64,016 rows × 14 columns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83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After cleaning (pre-reduction)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17,570 rows × 16 columns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83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Final shape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8,786 rows × 33 columns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4838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Overall retention rate</a:t>
                      </a:r>
                      <a:endParaRPr lang="en-US" altLang="zh-CN"/>
                    </a:p>
                  </a:txBody>
                  <a:tcPr anchor="ctr">
                    <a:lnL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13.7% (8,786 / 64,016)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92ABDF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67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EDA &amp; Key Findings</a:t>
            </a:r>
            <a:endParaRPr lang="en-US" sz="3200" b="1" dirty="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0003" y="249137"/>
            <a:ext cx="1212626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30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Key Findings and Modeling Assumptions</a:t>
            </a:r>
            <a:endParaRPr lang="en-US" altLang="zh-CN" sz="3000" b="1" dirty="0">
              <a:solidFill>
                <a:srgbClr val="5C7CB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169978" y="927562"/>
            <a:ext cx="4538230" cy="355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0066C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●</a:t>
            </a:r>
            <a:r>
              <a:rPr lang="en-US" altLang="zh-CN" sz="1600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Sales are </a:t>
            </a:r>
            <a:r>
              <a:rPr lang="en-US" altLang="zh-CN" sz="16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extremely right</a:t>
            </a:r>
            <a:r>
              <a:rPr lang="en-US" sz="16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‑</a:t>
            </a:r>
            <a:r>
              <a:rPr lang="en-US" altLang="zh-CN" sz="16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skewed</a:t>
            </a:r>
            <a:r>
              <a:rPr lang="en-US" altLang="zh-CN" sz="1600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(skewness 8.04); </a:t>
            </a:r>
            <a:r>
              <a:rPr lang="en-US" altLang="zh-CN" sz="16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log</a:t>
            </a:r>
            <a:r>
              <a:rPr lang="en-US" sz="16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‑</a:t>
            </a:r>
            <a:r>
              <a:rPr lang="en-US" altLang="zh-CN" sz="16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transformation</a:t>
            </a:r>
            <a:r>
              <a:rPr lang="en-US" altLang="zh-CN" sz="1600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is required 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66C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●</a:t>
            </a:r>
            <a:r>
              <a:rPr lang="en-US" sz="16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Critic Score correlates negligibly with sales</a:t>
            </a:r>
            <a:r>
              <a:rPr lang="en-US" sz="1600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. Even perfect scores show enormous sales spread.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66C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●</a:t>
            </a:r>
            <a:r>
              <a:rPr lang="en-US" altLang="zh-CN" sz="1600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Platform and genre alone are weak discriminators; the real signal lies in their </a:t>
            </a:r>
            <a:r>
              <a:rPr lang="en-US" altLang="zh-CN" sz="16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interaction effects</a:t>
            </a:r>
            <a:r>
              <a:rPr lang="en-US" altLang="zh-CN" sz="1600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endParaRPr lang="en-US" sz="1600" dirty="0"/>
          </a:p>
        </p:txBody>
      </p:sp>
      <p:sp>
        <p:nvSpPr>
          <p:cNvPr id="37" name="Shape 12"/>
          <p:cNvSpPr/>
          <p:nvPr/>
        </p:nvSpPr>
        <p:spPr>
          <a:xfrm>
            <a:off x="123046" y="5042131"/>
            <a:ext cx="4499437" cy="117186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13"/>
          <p:cNvSpPr/>
          <p:nvPr/>
        </p:nvSpPr>
        <p:spPr>
          <a:xfrm>
            <a:off x="245647" y="4812651"/>
            <a:ext cx="4386891" cy="15442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Critic Score should not be a primary feature. Modelling should instead focus on </a:t>
            </a:r>
            <a:r>
              <a:rPr lang="en-US" altLang="zh-CN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combinatorial</a:t>
            </a:r>
            <a:r>
              <a:rPr lang="en-US" altLang="zh-CN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 and </a:t>
            </a:r>
            <a:r>
              <a:rPr lang="en-US" altLang="zh-CN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regional variables.</a:t>
            </a:r>
            <a:endParaRPr b="1"/>
          </a:p>
        </p:txBody>
      </p:sp>
      <p:pic>
        <p:nvPicPr>
          <p:cNvPr id="5" name="图片 4" descr="upload_post_object_v2_11647095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139" y="756634"/>
            <a:ext cx="7264902" cy="2842604"/>
          </a:xfrm>
          <a:prstGeom prst="rect">
            <a:avLst/>
          </a:prstGeom>
        </p:spPr>
      </p:pic>
      <p:pic>
        <p:nvPicPr>
          <p:cNvPr id="6" name="图片 5" descr="upload_post_object_v2_18683662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139" y="3599238"/>
            <a:ext cx="7264949" cy="319387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-6311" y="-26651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0003" y="249137"/>
            <a:ext cx="1212626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3000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Three Core Market Laws</a:t>
            </a:r>
            <a:endParaRPr lang="en-US" altLang="zh-CN" sz="3000" b="1" dirty="0">
              <a:solidFill>
                <a:srgbClr val="5C7CB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1574973" y="5836949"/>
            <a:ext cx="887614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Platform × Genre Interaction: </a:t>
            </a:r>
            <a:r>
              <a:rPr lang="en-US" altLang="zh-CN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The combined effect is much greater than that of a single platform or a single type.</a:t>
            </a:r>
            <a:endParaRPr lang="en-US" altLang="zh-CN" dirty="0">
              <a:solidFill>
                <a:srgbClr val="5C7CB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pic>
        <p:nvPicPr>
          <p:cNvPr id="4" name="图片 3" descr="upload_post_object_v2_23085701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457" y="777240"/>
            <a:ext cx="6882959" cy="4538927"/>
          </a:xfrm>
          <a:prstGeom prst="rect">
            <a:avLst/>
          </a:prstGeom>
        </p:spPr>
      </p:pic>
      <p:pic>
        <p:nvPicPr>
          <p:cNvPr id="7" name="图片 6" descr="upload_post_object_v2_26845537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78" y="706322"/>
            <a:ext cx="9765496" cy="4478395"/>
          </a:xfrm>
          <a:prstGeom prst="rect">
            <a:avLst/>
          </a:prstGeom>
        </p:spPr>
      </p:pic>
      <p:pic>
        <p:nvPicPr>
          <p:cNvPr id="10" name="图片 9" descr="upload_post_object_v2_343132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688" y="706322"/>
            <a:ext cx="6836707" cy="4464186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377735" y="5836920"/>
            <a:ext cx="982763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Regional taste segregation: </a:t>
            </a:r>
            <a:r>
              <a:rPr lang="en-US" altLang="zh-CN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Players in the three major market regions (North America, Japan, Europe and Australia) have distinct preferences.</a:t>
            </a:r>
            <a:endParaRPr lang="en-US" altLang="zh-CN" dirty="0">
              <a:solidFill>
                <a:srgbClr val="5C7CB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19" name="Text 5"/>
          <p:cNvSpPr/>
          <p:nvPr/>
        </p:nvSpPr>
        <p:spPr>
          <a:xfrm>
            <a:off x="1260260" y="5265420"/>
            <a:ext cx="10062441" cy="149860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Brand dual mechanism: </a:t>
            </a:r>
            <a:r>
              <a:rPr lang="en-US" altLang="zh-CN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The brand influences sales through two paths </a:t>
            </a:r>
            <a:r>
              <a:rPr lang="zh-CN" altLang="en-US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- </a:t>
            </a:r>
            <a:r>
              <a:rPr lang="en-US" altLang="zh-CN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"scale" and "reputation", and they need to be modeled separately.</a:t>
            </a:r>
            <a:endParaRPr lang="en-US" altLang="zh-CN" dirty="0">
              <a:solidFill>
                <a:srgbClr val="5C7CB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Sales hierarchy differentiation: </a:t>
            </a:r>
            <a:r>
              <a:rPr lang="en-US" altLang="zh-CN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K</a:t>
            </a:r>
            <a:r>
              <a:rPr lang="zh-CN" altLang="en-US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-</a:t>
            </a:r>
            <a:r>
              <a:rPr lang="en-US" altLang="zh-CN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Means identified only 2.7% of the best</a:t>
            </a:r>
            <a:r>
              <a:rPr lang="zh-CN" altLang="en-US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-</a:t>
            </a:r>
            <a:r>
              <a:rPr lang="en-US" altLang="zh-CN" dirty="0">
                <a:solidFill>
                  <a:srgbClr val="5C7CB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selling levels, and the ratings were not the basis for the hierarchy.preferences.</a:t>
            </a:r>
            <a:endParaRPr lang="en-US" altLang="zh-CN" dirty="0">
              <a:solidFill>
                <a:srgbClr val="5C7CB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3" grpId="0"/>
      <p:bldP spid="13" grpId="1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67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b="1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Model &amp; Evaluation</a:t>
            </a:r>
            <a:endParaRPr lang="en-US" sz="3400" b="1" dirty="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From Exploratory Findings to Predictive Modelling</a:t>
            </a:r>
            <a:endParaRPr lang="en-US" b="1" dirty="0">
              <a:solidFill>
                <a:srgbClr val="595959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740664" y="6076628"/>
            <a:ext cx="8564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4472C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Dataset: cleaned_vgchartz.csv · 8,786 records · 80/20 stratified train-test split</a:t>
            </a:r>
            <a:endParaRPr lang="zh-CN" altLang="en-US" b="1">
              <a:solidFill>
                <a:srgbClr val="4472C4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-6229" y="-13371"/>
            <a:ext cx="12204700" cy="68846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-6229" y="0"/>
            <a:ext cx="11430000" cy="475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4472C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Three Models: From Baseline to Blockbuster-Aware Hybrid</a:t>
            </a:r>
            <a:endParaRPr lang="en-US" sz="2800" b="1" dirty="0">
              <a:solidFill>
                <a:srgbClr val="4472C4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  <a:p>
            <a:pPr algn="l">
              <a:lnSpc>
                <a:spcPct val="120000"/>
              </a:lnSpc>
            </a:pPr>
            <a:endParaRPr lang="en-US" sz="2250" dirty="0">
              <a:solidFill>
                <a:srgbClr val="4472C4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1666875"/>
            <a:ext cx="3416471" cy="2571750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2000" y="1690688"/>
            <a:ext cx="19050" cy="2595563"/>
          </a:xfrm>
          <a:prstGeom prst="rect">
            <a:avLst/>
          </a:prstGeom>
          <a:solidFill>
            <a:srgbClr val="718096"/>
          </a:solidFill>
        </p:spPr>
      </p:sp>
      <p:sp>
        <p:nvSpPr>
          <p:cNvPr id="12" name="Text 9"/>
          <p:cNvSpPr/>
          <p:nvPr/>
        </p:nvSpPr>
        <p:spPr>
          <a:xfrm>
            <a:off x="1000125" y="1666875"/>
            <a:ext cx="5715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71809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524000" y="1690688"/>
            <a:ext cx="2190750" cy="333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altLang="zh-CN" sz="16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Multiple </a:t>
            </a:r>
            <a:r>
              <a:rPr lang="en-US" sz="16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Linear Regression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065276" y="2095500"/>
            <a:ext cx="2809875" cy="20193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altLang="zh-CN" sz="1350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B</a:t>
            </a:r>
            <a:r>
              <a:rPr lang="en-US" sz="1350" dirty="0">
                <a:latin typeface="MiSans" pitchFamily="34" charset="-122"/>
                <a:ea typeface="MiSans" pitchFamily="34" charset="-122"/>
                <a:cs typeface="MiSans" pitchFamily="34" charset="-122"/>
              </a:rPr>
              <a:t>aseline · Interpretable</a:t>
            </a:r>
            <a:endParaRPr lang="en-US" sz="1350" dirty="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marL="171450" indent="-171450" algn="l">
              <a:lnSpc>
                <a:spcPct val="150000"/>
              </a:lnSpc>
              <a:spcBef>
                <a:spcPts val="1000"/>
              </a:spcBef>
              <a:buChar char="•"/>
            </a:pPr>
            <a:r>
              <a:rPr lang="en-US" sz="1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Test R² = 0.3123, RMSE = 0.2592</a:t>
            </a:r>
            <a:endParaRPr lang="en-US" sz="12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171450" indent="-171450" algn="l">
              <a:lnSpc>
                <a:spcPct val="150000"/>
              </a:lnSpc>
              <a:spcBef>
                <a:spcPts val="1000"/>
              </a:spcBef>
              <a:buChar char="•"/>
            </a:pPr>
            <a:r>
              <a:rPr lang="en-US" sz="1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Interpretable coefficients for marginal effects</a:t>
            </a:r>
            <a:endParaRPr lang="en-US" sz="12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171450" indent="-171450" algn="l">
              <a:lnSpc>
                <a:spcPct val="150000"/>
              </a:lnSpc>
              <a:spcBef>
                <a:spcPts val="1000"/>
              </a:spcBef>
              <a:buChar char="•"/>
            </a:pPr>
            <a:r>
              <a:rPr lang="en-US" sz="1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Statistical baseline for performance benchmark</a:t>
            </a:r>
            <a:endParaRPr lang="en-US" sz="1350" dirty="0">
              <a:solidFill>
                <a:srgbClr val="000000"/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095750" y="2571750"/>
            <a:ext cx="381000" cy="0"/>
          </a:xfrm>
          <a:prstGeom prst="straightConnector1">
            <a:avLst/>
          </a:prstGeom>
          <a:noFill/>
          <a:ln w="25400">
            <a:solidFill>
              <a:srgbClr val="0066CC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4595813" y="1666875"/>
            <a:ext cx="47625" cy="257175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20" name="Text 17"/>
          <p:cNvSpPr/>
          <p:nvPr/>
        </p:nvSpPr>
        <p:spPr>
          <a:xfrm>
            <a:off x="4810125" y="1666875"/>
            <a:ext cx="5715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0066C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5381625" y="1690688"/>
            <a:ext cx="1666875" cy="333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Random Forest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4829175" y="2095500"/>
            <a:ext cx="2809875" cy="2143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altLang="zh-CN" sz="1350" dirty="0">
                <a:solidFill>
                  <a:srgbClr val="4472C4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B</a:t>
            </a:r>
            <a:r>
              <a:rPr lang="en-US" sz="1350" dirty="0">
                <a:solidFill>
                  <a:srgbClr val="4472C4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est Overall · Non-linear</a:t>
            </a:r>
            <a:endParaRPr lang="en-US" sz="1350" dirty="0">
              <a:solidFill>
                <a:srgbClr val="4472C4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sz="1350" dirty="0">
                <a:solidFill>
                  <a:srgbClr val="4472C4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• Test R² = 0.3937 (+26% lift vs baseline)</a:t>
            </a:r>
            <a:endParaRPr lang="en-US" sz="1350" dirty="0">
              <a:solidFill>
                <a:srgbClr val="4472C4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sz="1350" dirty="0">
                <a:solidFill>
                  <a:srgbClr val="4472C4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• Captures platform-genre interaction effects</a:t>
            </a:r>
            <a:endParaRPr lang="en-US" sz="1350" dirty="0">
              <a:solidFill>
                <a:srgbClr val="4472C4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sz="1350" dirty="0">
                <a:solidFill>
                  <a:srgbClr val="4472C4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• Robust to outliers; outputs feature importance</a:t>
            </a:r>
            <a:endParaRPr lang="en-US" sz="1350" dirty="0">
              <a:solidFill>
                <a:srgbClr val="4472C4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endParaRPr lang="en-US" sz="1350" dirty="0">
              <a:solidFill>
                <a:srgbClr val="4472C4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905750" y="2571750"/>
            <a:ext cx="381000" cy="0"/>
          </a:xfrm>
          <a:prstGeom prst="straightConnector1">
            <a:avLst/>
          </a:prstGeom>
          <a:noFill/>
          <a:ln w="25400">
            <a:solidFill>
              <a:srgbClr val="0066CC"/>
            </a:solidFill>
            <a:prstDash val="solid"/>
            <a:headEnd type="none"/>
            <a:tailEnd type="arrow"/>
          </a:ln>
        </p:spPr>
      </p:sp>
      <p:sp>
        <p:nvSpPr>
          <p:cNvPr id="25" name="Shape 22"/>
          <p:cNvSpPr/>
          <p:nvPr/>
        </p:nvSpPr>
        <p:spPr>
          <a:xfrm>
            <a:off x="8286750" y="1690688"/>
            <a:ext cx="47625" cy="2571750"/>
          </a:xfrm>
          <a:prstGeom prst="rect">
            <a:avLst/>
          </a:prstGeom>
          <a:solidFill>
            <a:srgbClr val="38A169"/>
          </a:solidFill>
        </p:spPr>
      </p:sp>
      <p:sp>
        <p:nvSpPr>
          <p:cNvPr id="26" name="Text 23"/>
          <p:cNvSpPr/>
          <p:nvPr/>
        </p:nvSpPr>
        <p:spPr>
          <a:xfrm>
            <a:off x="8620125" y="1666875"/>
            <a:ext cx="5715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38A16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9239250" y="1666875"/>
            <a:ext cx="2000250" cy="3333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5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Two-Stage Hybrid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8620125" y="2143125"/>
            <a:ext cx="2619375" cy="2000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8191500" y="4648200"/>
            <a:ext cx="15240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lockbuster RF</a:t>
            </a:r>
            <a:endParaRPr lang="en-US" sz="1050" dirty="0"/>
          </a:p>
          <a:p>
            <a:pPr algn="ctr">
              <a:lnSpc>
                <a:spcPct val="130000"/>
              </a:lnSpc>
            </a:pPr>
            <a:r>
              <a:rPr lang="en-US" sz="825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Specialized prediction</a:t>
            </a:r>
            <a:endParaRPr lang="en-US" sz="1050" dirty="0"/>
          </a:p>
        </p:txBody>
      </p:sp>
      <p:sp>
        <p:nvSpPr>
          <p:cNvPr id="49" name="文本框 48"/>
          <p:cNvSpPr txBox="1"/>
          <p:nvPr userDrawn="1"/>
        </p:nvSpPr>
        <p:spPr>
          <a:xfrm>
            <a:off x="8604314" y="2143125"/>
            <a:ext cx="2819400" cy="2143125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 sz="1400">
                <a:solidFill>
                  <a:srgbClr val="548235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Segment Optimized</a:t>
            </a:r>
            <a:endParaRPr lang="zh-CN" altLang="en-US" sz="1400">
              <a:solidFill>
                <a:srgbClr val="548235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endParaRPr lang="zh-CN" altLang="en-US" sz="1400">
              <a:solidFill>
                <a:srgbClr val="548235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r>
              <a:rPr lang="zh-CN" altLang="en-US" sz="1400">
                <a:solidFill>
                  <a:srgbClr val="548235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• Overall R² = 0.3775</a:t>
            </a:r>
            <a:endParaRPr lang="zh-CN" altLang="en-US" sz="1400">
              <a:solidFill>
                <a:srgbClr val="548235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endParaRPr lang="zh-CN" altLang="en-US" sz="1400">
              <a:solidFill>
                <a:srgbClr val="548235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r>
              <a:rPr lang="zh-CN" altLang="en-US" sz="1400">
                <a:solidFill>
                  <a:srgbClr val="548235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• Blockbuster-segment RMSE </a:t>
            </a:r>
            <a:endParaRPr lang="zh-CN" altLang="en-US" sz="1400">
              <a:solidFill>
                <a:srgbClr val="548235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r>
              <a:rPr lang="zh-CN" altLang="en-US" sz="1400">
                <a:solidFill>
                  <a:srgbClr val="548235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reduced by 6.7%</a:t>
            </a:r>
            <a:endParaRPr lang="zh-CN" altLang="en-US" sz="1400">
              <a:solidFill>
                <a:srgbClr val="548235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endParaRPr lang="zh-CN" altLang="en-US" sz="1400">
              <a:solidFill>
                <a:srgbClr val="548235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r>
              <a:rPr lang="zh-CN" altLang="en-US" sz="1400">
                <a:solidFill>
                  <a:srgbClr val="548235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• Hybrid blend design for </a:t>
            </a:r>
            <a:endParaRPr lang="zh-CN" altLang="en-US" sz="1400">
              <a:solidFill>
                <a:srgbClr val="548235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r>
              <a:rPr lang="zh-CN" altLang="en-US" sz="1400">
                <a:solidFill>
                  <a:srgbClr val="548235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sparse blockbuster data</a:t>
            </a:r>
            <a:endParaRPr lang="zh-CN" altLang="en-US" sz="1400">
              <a:solidFill>
                <a:srgbClr val="548235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51" name="文本框 50"/>
          <p:cNvSpPr txBox="1"/>
          <p:nvPr userDrawn="1"/>
        </p:nvSpPr>
        <p:spPr>
          <a:xfrm>
            <a:off x="780662" y="4636326"/>
            <a:ext cx="11087584" cy="368300"/>
          </a:xfrm>
          <a:prstGeom prst="rect">
            <a:avLst/>
          </a:prstGeom>
        </p:spPr>
        <p:txBody>
          <a:bodyPr wrap="none" rtlCol="0">
            <a:noAutofit/>
          </a:bodyPr>
          <a:p>
            <a:endParaRPr lang="zh-CN" altLang="en-US"/>
          </a:p>
        </p:txBody>
      </p:sp>
      <p:sp>
        <p:nvSpPr>
          <p:cNvPr id="52" name="Text 26"/>
          <p:cNvSpPr/>
          <p:nvPr/>
        </p:nvSpPr>
        <p:spPr>
          <a:xfrm>
            <a:off x="624432" y="4487228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A202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Two-Stage Architecture</a:t>
            </a:r>
            <a:endParaRPr lang="en-US" sz="2000" b="1" dirty="0">
              <a:solidFill>
                <a:srgbClr val="1A202C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>
              <a:lnSpc>
                <a:spcPct val="120000"/>
              </a:lnSpc>
            </a:pPr>
            <a:endParaRPr lang="en-US" sz="2000" dirty="0"/>
          </a:p>
        </p:txBody>
      </p:sp>
      <p:sp>
        <p:nvSpPr>
          <p:cNvPr id="53" name="Shape 27"/>
          <p:cNvSpPr/>
          <p:nvPr/>
        </p:nvSpPr>
        <p:spPr>
          <a:xfrm>
            <a:off x="624464" y="4881029"/>
            <a:ext cx="2032000" cy="990600"/>
          </a:xfrm>
          <a:prstGeom prst="rect">
            <a:avLst/>
          </a:prstGeom>
          <a:solidFill>
            <a:srgbClr val="0A3161"/>
          </a:solidFill>
        </p:spPr>
      </p:sp>
      <p:sp>
        <p:nvSpPr>
          <p:cNvPr id="54" name="Text 28"/>
          <p:cNvSpPr/>
          <p:nvPr/>
        </p:nvSpPr>
        <p:spPr>
          <a:xfrm>
            <a:off x="624500" y="4881029"/>
            <a:ext cx="20320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Game Attributes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Platform, Genre, Dev, Pub</a:t>
            </a:r>
            <a:endParaRPr lang="en-US" sz="1400" dirty="0"/>
          </a:p>
        </p:txBody>
      </p:sp>
      <p:sp>
        <p:nvSpPr>
          <p:cNvPr id="55" name="Shape 29"/>
          <p:cNvSpPr/>
          <p:nvPr/>
        </p:nvSpPr>
        <p:spPr>
          <a:xfrm>
            <a:off x="2656393" y="5376321"/>
            <a:ext cx="635000" cy="0"/>
          </a:xfrm>
          <a:prstGeom prst="straightConnector1">
            <a:avLst/>
          </a:prstGeom>
          <a:noFill/>
          <a:ln w="25400">
            <a:solidFill>
              <a:srgbClr val="0066CC"/>
            </a:solidFill>
            <a:prstDash val="solid"/>
            <a:headEnd type="none"/>
            <a:tailEnd type="arrow"/>
          </a:ln>
        </p:spPr>
      </p:sp>
      <p:sp>
        <p:nvSpPr>
          <p:cNvPr id="56" name="Shape 30"/>
          <p:cNvSpPr/>
          <p:nvPr/>
        </p:nvSpPr>
        <p:spPr>
          <a:xfrm>
            <a:off x="3270214" y="4881029"/>
            <a:ext cx="2032000" cy="990586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57" name="Text 31"/>
          <p:cNvSpPr/>
          <p:nvPr/>
        </p:nvSpPr>
        <p:spPr>
          <a:xfrm>
            <a:off x="3270214" y="4982614"/>
            <a:ext cx="2032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Global RF</a:t>
            </a:r>
            <a:endParaRPr lang="en-US" sz="15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Base prediction</a:t>
            </a:r>
            <a:endParaRPr lang="en-US" sz="1500" dirty="0"/>
          </a:p>
        </p:txBody>
      </p:sp>
      <p:sp>
        <p:nvSpPr>
          <p:cNvPr id="58" name="Shape 32"/>
          <p:cNvSpPr/>
          <p:nvPr/>
        </p:nvSpPr>
        <p:spPr>
          <a:xfrm>
            <a:off x="5302286" y="5376321"/>
            <a:ext cx="635000" cy="0"/>
          </a:xfrm>
          <a:prstGeom prst="straightConnector1">
            <a:avLst/>
          </a:prstGeom>
          <a:noFill/>
          <a:ln w="25400">
            <a:solidFill>
              <a:srgbClr val="0066CC"/>
            </a:solidFill>
            <a:prstDash val="solid"/>
            <a:headEnd type="none"/>
            <a:tailEnd type="arrow"/>
          </a:ln>
        </p:spPr>
      </p:sp>
      <p:sp>
        <p:nvSpPr>
          <p:cNvPr id="59" name="Shape 33"/>
          <p:cNvSpPr/>
          <p:nvPr/>
        </p:nvSpPr>
        <p:spPr>
          <a:xfrm>
            <a:off x="5937286" y="4881029"/>
            <a:ext cx="2032000" cy="1117600"/>
          </a:xfrm>
          <a:prstGeom prst="rect">
            <a:avLst/>
          </a:prstGeom>
          <a:solidFill>
            <a:srgbClr val="DD6B20"/>
          </a:solidFill>
        </p:spPr>
      </p:sp>
      <p:sp>
        <p:nvSpPr>
          <p:cNvPr id="60" name="Text 34"/>
          <p:cNvSpPr/>
          <p:nvPr/>
        </p:nvSpPr>
        <p:spPr>
          <a:xfrm>
            <a:off x="5873821" y="4868243"/>
            <a:ext cx="20320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Blockbuster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Classifier</a:t>
            </a:r>
            <a:endParaRPr lang="en-US" sz="13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Flag high-sales games</a:t>
            </a:r>
            <a:endParaRPr lang="en-US" sz="1300" dirty="0"/>
          </a:p>
        </p:txBody>
      </p:sp>
      <p:sp>
        <p:nvSpPr>
          <p:cNvPr id="61" name="Shape 35"/>
          <p:cNvSpPr/>
          <p:nvPr/>
        </p:nvSpPr>
        <p:spPr>
          <a:xfrm>
            <a:off x="7969345" y="5249302"/>
            <a:ext cx="762000" cy="381000"/>
          </a:xfrm>
          <a:prstGeom prst="rect">
            <a:avLst/>
          </a:prstGeom>
          <a:solidFill>
            <a:srgbClr val="38A169"/>
          </a:solidFill>
        </p:spPr>
      </p:sp>
      <p:sp>
        <p:nvSpPr>
          <p:cNvPr id="62" name="Text 36"/>
          <p:cNvSpPr/>
          <p:nvPr/>
        </p:nvSpPr>
        <p:spPr>
          <a:xfrm>
            <a:off x="7969345" y="5236611"/>
            <a:ext cx="76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YES</a:t>
            </a:r>
            <a:endParaRPr lang="en-US" sz="1400" dirty="0"/>
          </a:p>
        </p:txBody>
      </p:sp>
      <p:sp>
        <p:nvSpPr>
          <p:cNvPr id="63" name="Shape 37"/>
          <p:cNvSpPr/>
          <p:nvPr/>
        </p:nvSpPr>
        <p:spPr>
          <a:xfrm>
            <a:off x="8731409" y="5439886"/>
            <a:ext cx="635000" cy="0"/>
          </a:xfrm>
          <a:prstGeom prst="straightConnector1">
            <a:avLst/>
          </a:prstGeom>
          <a:noFill/>
          <a:ln w="25400">
            <a:solidFill>
              <a:srgbClr val="38A169"/>
            </a:solidFill>
            <a:prstDash val="solid"/>
            <a:headEnd type="none"/>
            <a:tailEnd type="arrow"/>
          </a:ln>
        </p:spPr>
      </p:sp>
      <p:sp>
        <p:nvSpPr>
          <p:cNvPr id="64" name="Shape 38"/>
          <p:cNvSpPr/>
          <p:nvPr/>
        </p:nvSpPr>
        <p:spPr>
          <a:xfrm>
            <a:off x="9366428" y="4881029"/>
            <a:ext cx="2032000" cy="1104843"/>
          </a:xfrm>
          <a:prstGeom prst="rect">
            <a:avLst/>
          </a:prstGeom>
          <a:solidFill>
            <a:srgbClr val="38A169"/>
          </a:solidFill>
        </p:spPr>
      </p:sp>
      <p:sp>
        <p:nvSpPr>
          <p:cNvPr id="65" name="Text 39"/>
          <p:cNvSpPr/>
          <p:nvPr/>
        </p:nvSpPr>
        <p:spPr>
          <a:xfrm>
            <a:off x="9391700" y="4931743"/>
            <a:ext cx="20320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Blockbuster RF</a:t>
            </a:r>
            <a:endParaRPr lang="en-US" sz="1400" dirty="0"/>
          </a:p>
          <a:p>
            <a:pPr algn="ctr">
              <a:lnSpc>
                <a:spcPct val="130000"/>
              </a:lnSpc>
            </a:pPr>
            <a:r>
              <a:rPr lang="en-US" sz="11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Specialized prediction</a:t>
            </a:r>
            <a:endParaRPr lang="en-US" sz="1400" dirty="0"/>
          </a:p>
        </p:txBody>
      </p:sp>
      <p:sp>
        <p:nvSpPr>
          <p:cNvPr id="66" name="Shape 41"/>
          <p:cNvSpPr/>
          <p:nvPr/>
        </p:nvSpPr>
        <p:spPr>
          <a:xfrm>
            <a:off x="3291393" y="5968929"/>
            <a:ext cx="2032000" cy="889000"/>
          </a:xfrm>
          <a:prstGeom prst="rect">
            <a:avLst/>
          </a:prstGeom>
          <a:solidFill>
            <a:srgbClr val="0A3161"/>
          </a:solidFill>
        </p:spPr>
      </p:sp>
      <p:sp>
        <p:nvSpPr>
          <p:cNvPr id="67" name="Text 42"/>
          <p:cNvSpPr/>
          <p:nvPr/>
        </p:nvSpPr>
        <p:spPr>
          <a:xfrm>
            <a:off x="3291393" y="5968964"/>
            <a:ext cx="2032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Blended</a:t>
            </a:r>
            <a:endParaRPr lang="en-US" sz="15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Final prediction</a:t>
            </a:r>
            <a:endParaRPr lang="en-US" sz="1500" dirty="0"/>
          </a:p>
        </p:txBody>
      </p:sp>
      <p:sp>
        <p:nvSpPr>
          <p:cNvPr id="68" name="Shape 43"/>
          <p:cNvSpPr/>
          <p:nvPr/>
        </p:nvSpPr>
        <p:spPr>
          <a:xfrm flipH="1">
            <a:off x="5421099" y="6022178"/>
            <a:ext cx="4962966" cy="409334"/>
          </a:xfrm>
          <a:prstGeom prst="straightConnector1">
            <a:avLst/>
          </a:prstGeom>
          <a:noFill/>
          <a:ln w="25400">
            <a:solidFill>
              <a:srgbClr val="0066CC"/>
            </a:solidFill>
            <a:prstDash val="solid"/>
            <a:headEnd type="none"/>
            <a:tailEnd type="arrow"/>
          </a:ln>
        </p:spPr>
      </p:sp>
      <p:sp>
        <p:nvSpPr>
          <p:cNvPr id="70" name="文本框 69"/>
          <p:cNvSpPr txBox="1"/>
          <p:nvPr userDrawn="1"/>
        </p:nvSpPr>
        <p:spPr>
          <a:xfrm>
            <a:off x="7490163" y="6431511"/>
            <a:ext cx="4378001" cy="426418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/>
              <a:t>Hybrid blend: classifier + dedicated regressor</a:t>
            </a:r>
            <a:endParaRPr lang="zh-CN" altLang="en-US"/>
          </a:p>
        </p:txBody>
      </p:sp>
      <p:sp>
        <p:nvSpPr>
          <p:cNvPr id="71" name="文本框 70"/>
          <p:cNvSpPr txBox="1"/>
          <p:nvPr userDrawn="1"/>
        </p:nvSpPr>
        <p:spPr>
          <a:xfrm>
            <a:off x="-6229" y="711271"/>
            <a:ext cx="10108744" cy="36830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>
                <a:solidFill>
                  <a:srgbClr val="4472C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All models use log_sales as target to mitigate the extreme right skewness of raw sales data.</a:t>
            </a:r>
            <a:endParaRPr lang="zh-CN" altLang="en-US">
              <a:solidFill>
                <a:srgbClr val="4472C4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-26670"/>
            <a:ext cx="12204700" cy="688467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104372" y="142562"/>
            <a:ext cx="5410835" cy="52197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zh-CN" altLang="en-US" sz="2800">
                <a:solidFill>
                  <a:srgbClr val="4472C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Performance on Holdout Test Set</a:t>
            </a:r>
            <a:endParaRPr lang="zh-CN" altLang="en-US" sz="2800">
              <a:solidFill>
                <a:srgbClr val="4472C4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780662" y="890039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317937" y="765460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endParaRPr lang="zh-CN" altLang="en-US"/>
          </a:p>
        </p:txBody>
      </p:sp>
      <p:pic>
        <p:nvPicPr>
          <p:cNvPr id="7" name="图片 6" descr="upload_post_object_v2_7772650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7" y="1258389"/>
            <a:ext cx="3978764" cy="1209452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104367" y="890043"/>
            <a:ext cx="6175589" cy="510591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 b="1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Overall Performance Data Sheet</a:t>
            </a:r>
            <a:endParaRPr lang="zh-CN" altLang="en-US" b="1"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pic>
        <p:nvPicPr>
          <p:cNvPr id="9" name="图片 8" descr="upload_post_object_v2_10103067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239" y="1258389"/>
            <a:ext cx="6752543" cy="2306035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4524239" y="890043"/>
            <a:ext cx="6498167" cy="36830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 b="1"/>
              <a:t> Model Performance Comparison Chart</a:t>
            </a:r>
            <a:endParaRPr lang="zh-CN" altLang="en-US" b="1"/>
          </a:p>
        </p:txBody>
      </p:sp>
      <p:pic>
        <p:nvPicPr>
          <p:cNvPr id="12" name="图片 11" descr="upload_post_object_v2_38690588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7" y="4028949"/>
            <a:ext cx="4325408" cy="2677811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4367" y="3564391"/>
            <a:ext cx="4011083" cy="36830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 b="1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Blockbuster Prediction RMSE Lift</a:t>
            </a:r>
            <a:endParaRPr lang="zh-CN" altLang="en-US" b="1"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4524298" y="3848418"/>
            <a:ext cx="5355566" cy="36830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 b="1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Key Takeaways</a:t>
            </a:r>
            <a:endParaRPr lang="zh-CN" altLang="en-US" b="1"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456262" y="4216677"/>
            <a:ext cx="8231038" cy="1665857"/>
          </a:xfrm>
          <a:prstGeom prst="rect">
            <a:avLst/>
          </a:prstGeom>
        </p:spPr>
        <p:txBody>
          <a:bodyPr wrap="none" rtlCol="0">
            <a:noAutofit/>
          </a:bodyPr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•"/>
            </a:pPr>
            <a:r>
              <a:rPr lang="zh-CN" altLang="en-US" sz="160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Random Forest wins all overall metrics, confirming non-linear interactions </a:t>
            </a:r>
            <a:endParaRPr lang="zh-CN" altLang="en-US" sz="1600"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zh-CN" altLang="en-US" sz="160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drive sales</a:t>
            </a:r>
            <a:r>
              <a:rPr lang="en-US" altLang="zh-CN" sz="160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.</a:t>
            </a:r>
            <a:endParaRPr lang="zh-CN" altLang="en-US" sz="1600"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•"/>
            </a:pPr>
            <a:r>
              <a:rPr lang="zh-CN" altLang="en-US" sz="160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Two-stage model trades 1.6pp overall R² for 6.7% lower blockbuster RMSE</a:t>
            </a:r>
            <a:r>
              <a:rPr lang="en-US" altLang="zh-CN" sz="160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.</a:t>
            </a:r>
            <a:endParaRPr lang="zh-CN" altLang="en-US" sz="1600"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•"/>
            </a:pPr>
            <a:r>
              <a:rPr lang="zh-CN" altLang="en-US" sz="160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No severe overfitting: 5-fold CV results align with holdout test performance</a:t>
            </a:r>
            <a:r>
              <a:rPr lang="en-US" altLang="zh-CN" sz="160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.</a:t>
            </a:r>
            <a:endParaRPr lang="zh-CN" altLang="en-US" sz="1600"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•"/>
            </a:pPr>
            <a:r>
              <a:rPr lang="zh-CN" altLang="en-US" sz="160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General forecasting: Random Forest recommended; blockbuster focus:</a:t>
            </a:r>
            <a:endParaRPr lang="zh-CN" altLang="en-US" sz="1600"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  <a:p>
            <a:pPr indent="0" algn="l">
              <a:lnSpc>
                <a:spcPct val="150000"/>
              </a:lnSpc>
              <a:buNone/>
            </a:pPr>
            <a:r>
              <a:rPr lang="zh-CN" altLang="en-US" sz="1600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two-stage mode</a:t>
            </a:r>
            <a:r>
              <a:rPr lang="zh-CN" altLang="en-US"/>
              <a:t>l</a:t>
            </a:r>
            <a:r>
              <a:rPr lang="en-US" altLang="zh-CN"/>
              <a:t>.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165100" y="127000"/>
            <a:ext cx="8020050" cy="36830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 sz="2800">
                <a:solidFill>
                  <a:srgbClr val="4472C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Key Sales Drivers &amp; Research Question Verification</a:t>
            </a:r>
            <a:endParaRPr lang="zh-CN" altLang="en-US" sz="2800">
              <a:solidFill>
                <a:srgbClr val="4472C4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365125" y="717550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endParaRPr lang="zh-CN" altLang="en-US"/>
          </a:p>
        </p:txBody>
      </p:sp>
      <p:pic>
        <p:nvPicPr>
          <p:cNvPr id="5" name="图片 4" descr="upload_post_object_v2_27471696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" y="1344012"/>
            <a:ext cx="6090047" cy="3783350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961292" y="882670"/>
            <a:ext cx="4638675" cy="36830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>
                <a:solidFill>
                  <a:srgbClr val="4472C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Top 10 Feature Importance Ranking</a:t>
            </a:r>
            <a:endParaRPr lang="zh-CN" altLang="en-US">
              <a:solidFill>
                <a:srgbClr val="4472C4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0" y="5220286"/>
            <a:ext cx="7772400" cy="42545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 sz="1000">
                <a:solidFill>
                  <a:srgbClr val="808080"/>
                </a:solidFill>
              </a:rPr>
              <a:t>Note: This is the raw feature importance of all encoded features. </a:t>
            </a:r>
            <a:endParaRPr lang="zh-CN" altLang="en-US" sz="1000">
              <a:solidFill>
                <a:srgbClr val="808080"/>
              </a:solidFill>
            </a:endParaRPr>
          </a:p>
          <a:p>
            <a:pPr algn="l"/>
            <a:r>
              <a:rPr lang="zh-CN" altLang="en-US" sz="1000">
                <a:solidFill>
                  <a:srgbClr val="808080"/>
                </a:solidFill>
              </a:rPr>
              <a:t>The aggregated business conclusion in the official report prioritises publisher scale as the top driver.</a:t>
            </a:r>
            <a:endParaRPr lang="zh-CN" altLang="en-US" sz="1000">
              <a:solidFill>
                <a:srgbClr val="808080"/>
              </a:solidFill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6096000" y="882650"/>
            <a:ext cx="6101905" cy="3524885"/>
          </a:xfrm>
          <a:prstGeom prst="rect">
            <a:avLst/>
          </a:prstGeom>
        </p:spPr>
        <p:txBody>
          <a:bodyPr wrap="none" rtlCol="0">
            <a:noAutofit/>
          </a:bodyPr>
          <a:p>
            <a:pPr algn="l">
              <a:lnSpc>
                <a:spcPct val="120000"/>
              </a:lnSpc>
            </a:pPr>
            <a:r>
              <a:rPr lang="zh-CN" altLang="en-US" b="1"/>
              <a:t>Top 3 Core Drivers</a:t>
            </a:r>
            <a:endParaRPr lang="zh-CN" altLang="en-US" b="1"/>
          </a:p>
          <a:p>
            <a:pPr indent="0" algn="l">
              <a:lnSpc>
                <a:spcPct val="120000"/>
              </a:lnSpc>
              <a:buNone/>
            </a:pPr>
            <a:r>
              <a:rPr lang="en-US" altLang="zh-CN"/>
              <a:t>1.</a:t>
            </a:r>
            <a:r>
              <a:rPr lang="zh-CN" altLang="en-US"/>
              <a:t>Publisher brand scale (</a:t>
            </a:r>
            <a:r>
              <a:rPr lang="zh-CN" altLang="en-US">
                <a:solidFill>
                  <a:srgbClr val="4472C4"/>
                </a:solidFill>
              </a:rPr>
              <a:t>publisher_game_count</a:t>
            </a:r>
            <a:r>
              <a:rPr lang="zh-CN" altLang="en-US"/>
              <a:t>)</a:t>
            </a:r>
            <a:endParaRPr lang="zh-CN" altLang="en-US"/>
          </a:p>
          <a:p>
            <a:pPr indent="0" algn="l">
              <a:lnSpc>
                <a:spcPct val="120000"/>
              </a:lnSpc>
              <a:buNone/>
            </a:pPr>
            <a:r>
              <a:rPr lang="zh-CN" altLang="en-US"/>
              <a:t>—distribution &amp; channel resources</a:t>
            </a:r>
            <a:endParaRPr lang="zh-CN" altLang="en-US"/>
          </a:p>
          <a:p>
            <a:pPr indent="0" algn="l">
              <a:lnSpc>
                <a:spcPct val="120000"/>
              </a:lnSpc>
              <a:buNone/>
            </a:pPr>
            <a:r>
              <a:rPr lang="en-US" altLang="zh-CN"/>
              <a:t>2.</a:t>
            </a:r>
            <a:r>
              <a:rPr lang="zh-CN" altLang="en-US"/>
              <a:t>Game quality (critic_score) </a:t>
            </a:r>
            <a:endParaRPr lang="zh-CN" altLang="en-US"/>
          </a:p>
          <a:p>
            <a:pPr indent="0" algn="l">
              <a:lnSpc>
                <a:spcPct val="120000"/>
              </a:lnSpc>
              <a:buNone/>
            </a:pPr>
            <a:r>
              <a:rPr lang="zh-CN" altLang="en-US"/>
              <a:t>— non-linear impact on market acceptance</a:t>
            </a:r>
            <a:endParaRPr lang="zh-CN" altLang="en-US"/>
          </a:p>
          <a:p>
            <a:pPr indent="0" algn="l">
              <a:lnSpc>
                <a:spcPct val="120000"/>
              </a:lnSpc>
              <a:buNone/>
            </a:pPr>
            <a:r>
              <a:rPr lang="en-US" altLang="zh-CN"/>
              <a:t>3.</a:t>
            </a:r>
            <a:r>
              <a:rPr lang="zh-CN" altLang="en-US"/>
              <a:t>Release era (release_year_bin) — market environment effects</a:t>
            </a:r>
            <a:endParaRPr lang="zh-CN" altLang="en-US"/>
          </a:p>
          <a:p>
            <a:pPr indent="0" algn="l">
              <a:lnSpc>
                <a:spcPct val="120000"/>
              </a:lnSpc>
              <a:buNone/>
            </a:pPr>
            <a:endParaRPr lang="zh-CN" altLang="en-US"/>
          </a:p>
          <a:p>
            <a:pPr algn="l">
              <a:lnSpc>
                <a:spcPct val="120000"/>
              </a:lnSpc>
            </a:pPr>
            <a:r>
              <a:rPr lang="zh-CN" altLang="en-US" b="1"/>
              <a:t>Research Questions Verified</a:t>
            </a:r>
            <a:endParaRPr lang="zh-CN" altLang="en-US" b="1"/>
          </a:p>
          <a:p>
            <a:pPr indent="0" algn="l">
              <a:lnSpc>
                <a:spcPct val="120000"/>
              </a:lnSpc>
              <a:buNone/>
            </a:pPr>
            <a:r>
              <a:rPr lang="zh-CN" altLang="en-US"/>
              <a:t>• Q1 Platform-Genre Synergy: Both features rank top 10; </a:t>
            </a:r>
            <a:endParaRPr lang="zh-CN" altLang="en-US"/>
          </a:p>
          <a:p>
            <a:pPr indent="0" algn="l">
              <a:lnSpc>
                <a:spcPct val="120000"/>
              </a:lnSpc>
              <a:buNone/>
            </a:pPr>
            <a:r>
              <a:rPr lang="zh-CN" altLang="en-US"/>
              <a:t>26% R² lift confirms non-linear interaction effects</a:t>
            </a:r>
            <a:r>
              <a:rPr lang="en-US" altLang="zh-CN"/>
              <a:t>.</a:t>
            </a:r>
            <a:endParaRPr lang="zh-CN" altLang="en-US"/>
          </a:p>
          <a:p>
            <a:pPr indent="0" algn="l">
              <a:lnSpc>
                <a:spcPct val="120000"/>
              </a:lnSpc>
              <a:buNone/>
            </a:pPr>
            <a:r>
              <a:rPr lang="zh-CN" altLang="en-US"/>
              <a:t>•Q2 Genre-Regional Impact: Regional heterogeneity confirmed</a:t>
            </a:r>
            <a:endParaRPr lang="zh-CN" altLang="en-US"/>
          </a:p>
          <a:p>
            <a:pPr indent="0" algn="l">
              <a:lnSpc>
                <a:spcPct val="120000"/>
              </a:lnSpc>
              <a:buNone/>
            </a:pPr>
            <a:r>
              <a:rPr lang="zh-CN" altLang="en-US"/>
              <a:t> by EDA; dedicated sub-models recommended</a:t>
            </a:r>
            <a:endParaRPr lang="zh-CN" altLang="en-US"/>
          </a:p>
          <a:p>
            <a:pPr indent="0" algn="l">
              <a:lnSpc>
                <a:spcPct val="120000"/>
              </a:lnSpc>
              <a:buNone/>
            </a:pPr>
            <a:r>
              <a:rPr lang="zh-CN" altLang="en-US"/>
              <a:t>(global model excludes regional sales to prevent leakage)</a:t>
            </a:r>
            <a:r>
              <a:rPr lang="en-US" altLang="zh-CN"/>
              <a:t>.</a:t>
            </a:r>
            <a:endParaRPr lang="zh-CN" altLang="en-US"/>
          </a:p>
          <a:p>
            <a:pPr indent="0" algn="l">
              <a:lnSpc>
                <a:spcPct val="120000"/>
              </a:lnSpc>
              <a:buNone/>
            </a:pPr>
            <a:r>
              <a:rPr lang="zh-CN" altLang="en-US"/>
              <a:t>•Q3 Brand Effect: Dual mechanism validated — scale is </a:t>
            </a:r>
            <a:endParaRPr lang="zh-CN" altLang="en-US"/>
          </a:p>
          <a:p>
            <a:pPr algn="l">
              <a:lnSpc>
                <a:spcPct val="120000"/>
              </a:lnSpc>
            </a:pPr>
            <a:r>
              <a:rPr lang="zh-CN" altLang="en-US"/>
              <a:t>dominant, while prestige delivers independent premium</a:t>
            </a:r>
            <a:r>
              <a:rPr lang="en-US" altLang="zh-CN"/>
              <a:t>.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-12668" y="0"/>
            <a:ext cx="12204700" cy="688467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203200" y="15875"/>
            <a:ext cx="6096000" cy="36830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 sz="2800">
                <a:solidFill>
                  <a:srgbClr val="4472C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Prediction Reliability &amp; Key Limitations</a:t>
            </a:r>
            <a:endParaRPr lang="zh-CN" altLang="en-US" sz="2800">
              <a:solidFill>
                <a:srgbClr val="4472C4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pic>
        <p:nvPicPr>
          <p:cNvPr id="4" name="图片 3" descr="upload_post_object_v2_20325078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984250"/>
            <a:ext cx="7859074" cy="2803493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03200" y="615950"/>
            <a:ext cx="6496050" cy="36830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 b="1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Actual vs Predicted Sales Scatter Plot</a:t>
            </a:r>
            <a:endParaRPr lang="zh-CN" altLang="en-US" b="1"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203200" y="3892550"/>
            <a:ext cx="11639550" cy="259715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>
              <a:lnSpc>
                <a:spcPct val="130000"/>
              </a:lnSpc>
            </a:pPr>
            <a:r>
              <a:rPr lang="zh-CN" altLang="en-US" b="1">
                <a:latin typeface="MiSans" pitchFamily="34" charset="-122"/>
                <a:ea typeface="MiSans" pitchFamily="34" charset="-122"/>
                <a:cs typeface="MiSans" pitchFamily="34" charset="-122"/>
              </a:rPr>
              <a:t>Reliability Conclusion</a:t>
            </a:r>
            <a:endParaRPr lang="zh-CN" altLang="en-US" b="1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marL="285750" indent="-285750" algn="l">
              <a:lnSpc>
                <a:spcPct val="130000"/>
              </a:lnSpc>
              <a:buChar char="•"/>
            </a:pPr>
            <a:r>
              <a:rPr lang="zh-CN" altLang="en-US" sz="1400">
                <a:latin typeface="MiSans" pitchFamily="34" charset="-122"/>
                <a:ea typeface="MiSans" pitchFamily="34" charset="-122"/>
                <a:cs typeface="MiSans" pitchFamily="34" charset="-122"/>
              </a:rPr>
              <a:t>Reliable range: Mid-to-low budget mainstream games — predictions cluster closely to the perfect prediction line</a:t>
            </a:r>
            <a:r>
              <a:rPr lang="en-US" altLang="zh-CN" sz="1400">
                <a:latin typeface="MiSans" pitchFamily="34" charset="-122"/>
                <a:ea typeface="MiSans" pitchFamily="34" charset="-122"/>
                <a:cs typeface="MiSans" pitchFamily="34" charset="-122"/>
              </a:rPr>
              <a:t>.</a:t>
            </a:r>
            <a:endParaRPr lang="zh-CN" altLang="en-US" sz="1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marL="285750" indent="-285750" algn="l">
              <a:lnSpc>
                <a:spcPct val="130000"/>
              </a:lnSpc>
              <a:buChar char="•"/>
            </a:pPr>
            <a:r>
              <a:rPr lang="zh-CN" altLang="en-US" sz="1400">
                <a:latin typeface="MiSans" pitchFamily="34" charset="-122"/>
                <a:ea typeface="MiSans" pitchFamily="34" charset="-122"/>
                <a:cs typeface="MiSans" pitchFamily="34" charset="-122"/>
              </a:rPr>
              <a:t>Systematic bias: Blockbuster titles are consistently underestimated, due to the long-tail sales distribution</a:t>
            </a:r>
            <a:r>
              <a:rPr lang="en-US" altLang="zh-CN" sz="1400">
                <a:latin typeface="MiSans" pitchFamily="34" charset="-122"/>
                <a:ea typeface="MiSans" pitchFamily="34" charset="-122"/>
                <a:cs typeface="MiSans" pitchFamily="34" charset="-122"/>
              </a:rPr>
              <a:t>.</a:t>
            </a:r>
            <a:endParaRPr lang="zh-CN" altLang="en-US" sz="1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marL="285750" indent="-285750" algn="l">
              <a:lnSpc>
                <a:spcPct val="130000"/>
              </a:lnSpc>
              <a:buChar char="•"/>
            </a:pPr>
            <a:r>
              <a:rPr lang="zh-CN" altLang="en-US" sz="1400">
                <a:latin typeface="MiSans" pitchFamily="34" charset="-122"/>
                <a:ea typeface="MiSans" pitchFamily="34" charset="-122"/>
                <a:cs typeface="MiSans" pitchFamily="34" charset="-122"/>
              </a:rPr>
              <a:t>Improvement: Two-stage model pulls upper-tail predictions closer to actual values, reducing segment error by 6.7%</a:t>
            </a:r>
            <a:r>
              <a:rPr lang="en-US" altLang="zh-CN" sz="1400">
                <a:latin typeface="MiSans" pitchFamily="34" charset="-122"/>
                <a:ea typeface="MiSans" pitchFamily="34" charset="-122"/>
                <a:cs typeface="MiSans" pitchFamily="34" charset="-122"/>
              </a:rPr>
              <a:t>.</a:t>
            </a:r>
            <a:endParaRPr lang="zh-CN" altLang="en-US" sz="14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endParaRPr lang="zh-CN" altLang="en-US" b="1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03200" y="5146675"/>
            <a:ext cx="12239625" cy="1711325"/>
          </a:xfrm>
          <a:prstGeom prst="rect">
            <a:avLst/>
          </a:prstGeom>
        </p:spPr>
        <p:txBody>
          <a:bodyPr wrap="none" rtlCol="0">
            <a:noAutofit/>
          </a:bodyPr>
          <a:p>
            <a:pPr algn="l">
              <a:lnSpc>
                <a:spcPct val="110000"/>
              </a:lnSpc>
            </a:pPr>
            <a:r>
              <a:rPr lang="en-US" altLang="zh-CN" b="1">
                <a:latin typeface="MiSans" pitchFamily="34" charset="-122"/>
                <a:ea typeface="MiSans" pitchFamily="34" charset="-122"/>
                <a:cs typeface="MiSans" pitchFamily="34" charset="-122"/>
              </a:rPr>
              <a:t>Core limitations</a:t>
            </a:r>
            <a:endParaRPr lang="en-US" altLang="zh-CN" b="1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marL="342900" indent="-342900" algn="l">
              <a:lnSpc>
                <a:spcPct val="110000"/>
              </a:lnSpc>
              <a:buAutoNum type="arabicPeriod"/>
            </a:pP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Blockbuster sample scarcity: only 62 training records (0.9% of dataset) — data is the binding constraint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marL="342900" indent="-342900" algn="l">
              <a:lnSpc>
                <a:spcPct val="110000"/>
              </a:lnSpc>
              <a:buAutoNum type="arabicPeriod"/>
            </a:pP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Digital sales undercount: bias for modern digital-first releases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marL="342900" indent="-342900" algn="l">
              <a:lnSpc>
                <a:spcPct val="110000"/>
              </a:lnSpc>
              <a:buAutoNum type="arabicPeriod"/>
            </a:pP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Japan data gap: 63.7% zero-imputed records, limiting regional accuracy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marL="342900" indent="-342900" algn="l">
              <a:lnSpc>
                <a:spcPct val="110000"/>
              </a:lnSpc>
              <a:buAutoNum type="arabicPeriod"/>
            </a:pPr>
            <a:r>
              <a:rPr lang="zh-CN" altLang="en-US">
                <a:latin typeface="MiSans" pitchFamily="34" charset="-122"/>
                <a:ea typeface="MiSans" pitchFamily="34" charset="-122"/>
                <a:cs typeface="MiSans" pitchFamily="34" charset="-122"/>
              </a:rPr>
              <a:t>Temporal risk: most data pre-2019; degrades for new platforms &amp; monetization models</a:t>
            </a:r>
            <a:endParaRPr lang="zh-CN" altLang="en-US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indent="0" algn="l">
              <a:buNone/>
            </a:pPr>
            <a:r>
              <a:rPr lang="zh-CN" altLang="en-US"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                                                                                                                                                                                                     </a:t>
            </a:r>
            <a:endParaRPr lang="zh-CN" altLang="en-US" sz="1000"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522857" y="6489700"/>
            <a:ext cx="1319893" cy="36830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 sz="1000"/>
              <a:t>Source: M5 Modelling Report</a:t>
            </a:r>
            <a:endParaRPr lang="zh-CN" alt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67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altLang="zh-CN" sz="3400" b="1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Conclusion</a:t>
            </a:r>
            <a:endParaRPr lang="en-US" altLang="zh-CN" sz="3400" b="1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-12700" y="0"/>
            <a:ext cx="12204700" cy="6884670"/>
          </a:xfrm>
          <a:prstGeom prst="rect">
            <a:avLst/>
          </a:prstGeom>
        </p:spPr>
      </p:pic>
      <p:pic>
        <p:nvPicPr>
          <p:cNvPr id="3" name="图片 2" descr="upload_post_object_v2_31913517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2437"/>
            <a:ext cx="12192000" cy="59531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-12700" y="0"/>
            <a:ext cx="12204700" cy="6884670"/>
          </a:xfrm>
          <a:prstGeom prst="rect">
            <a:avLst/>
          </a:prstGeom>
        </p:spPr>
      </p:pic>
      <p:pic>
        <p:nvPicPr>
          <p:cNvPr id="3" name="图片 2" descr="upload_post_object_v2_16210843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187"/>
            <a:ext cx="12192000" cy="61436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-12700" y="0"/>
            <a:ext cx="12204700" cy="6884670"/>
          </a:xfrm>
          <a:prstGeom prst="rect">
            <a:avLst/>
          </a:prstGeom>
        </p:spPr>
      </p:pic>
      <p:pic>
        <p:nvPicPr>
          <p:cNvPr id="3" name="图片 2" descr="upload_post_object_v2_28553008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275"/>
            <a:ext cx="12192000" cy="62674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-12700" y="0"/>
            <a:ext cx="12204700" cy="6884670"/>
          </a:xfrm>
          <a:prstGeom prst="rect">
            <a:avLst/>
          </a:prstGeom>
        </p:spPr>
      </p:pic>
      <p:pic>
        <p:nvPicPr>
          <p:cNvPr id="4" name="图片 3" descr="upload_post_object_v2_30713102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9575"/>
            <a:ext cx="12192000" cy="60388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-26670"/>
            <a:ext cx="12204700" cy="6884670"/>
          </a:xfrm>
          <a:prstGeom prst="rect">
            <a:avLst/>
          </a:prstGeom>
        </p:spPr>
      </p:pic>
      <p:pic>
        <p:nvPicPr>
          <p:cNvPr id="14" name="图片 13" descr="upload_post_object_v2_1276482388">
            <a:hlinkClick r:id="rId2"/>
          </p:cNvPr>
          <p:cNvPicPr>
            <a:picLocks noChangeAspect="1"/>
          </p:cNvPicPr>
          <p:nvPr/>
        </p:nvPicPr>
        <p:blipFill>
          <a:blip r:embed="rId3"/>
          <a:srcRect b="4167"/>
          <a:stretch>
            <a:fillRect/>
          </a:stretch>
        </p:blipFill>
        <p:spPr>
          <a:xfrm>
            <a:off x="0" y="261772"/>
            <a:ext cx="8321170" cy="4556831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368406" y="5172677"/>
            <a:ext cx="3214688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>
                <a:hlinkClick r:id="rId2"/>
              </a:rPr>
              <a:t>https://lzu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info422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influencing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factors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behind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video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game</a:t>
            </a:r>
            <a:r>
              <a:rPr lang="zh-CN" altLang="en-US">
                <a:hlinkClick r:id="rId2"/>
              </a:rPr>
              <a:t>-</a:t>
            </a:r>
            <a:r>
              <a:rPr lang="en-US" altLang="zh-CN">
                <a:hlinkClick r:id="rId2"/>
              </a:rPr>
              <a:t>sales.streamlit.app/</a:t>
            </a:r>
            <a:endParaRPr lang="zh-CN" altLang="en-US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8410847" y="261801"/>
            <a:ext cx="2505833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 b="1"/>
              <a:t>Limitations </a:t>
            </a:r>
            <a:r>
              <a:rPr lang="zh-CN" altLang="en-US" b="1"/>
              <a:t>&amp; </a:t>
            </a:r>
            <a:r>
              <a:rPr lang="en-US" altLang="zh-CN" b="1"/>
              <a:t>Next Steps</a:t>
            </a:r>
            <a:endParaRPr lang="zh-CN" altLang="en-US" b="1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8410906" y="1117302"/>
            <a:ext cx="4135715" cy="3281550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 b="1">
                <a:latin typeface="MiSans" pitchFamily="34" charset="-122"/>
                <a:ea typeface="MiSans" pitchFamily="34" charset="-122"/>
                <a:cs typeface="MiSans" pitchFamily="34" charset="-122"/>
              </a:rPr>
              <a:t># Limitations</a:t>
            </a:r>
            <a:endParaRPr lang="zh-CN" altLang="en-US" b="1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endParaRPr lang="zh-CN" altLang="en-US" sz="1200" b="1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r>
              <a:rPr lang="zh-CN" altLang="en-US" sz="1100">
                <a:latin typeface="MiSans" pitchFamily="34" charset="-122"/>
                <a:ea typeface="MiSans" pitchFamily="34" charset="-122"/>
                <a:cs typeface="MiSans" pitchFamily="34" charset="-122"/>
              </a:rPr>
              <a:t>1. Only predicts global sales, no regional breakdown</a:t>
            </a:r>
            <a:endParaRPr lang="zh-CN" altLang="en-US" sz="11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endParaRPr lang="zh-CN" altLang="en-US" sz="11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r>
              <a:rPr lang="zh-CN" altLang="en-US" sz="1100">
                <a:latin typeface="MiSans" pitchFamily="34" charset="-122"/>
                <a:ea typeface="MiSans" pitchFamily="34" charset="-122"/>
                <a:cs typeface="MiSans" pitchFamily="34" charset="-122"/>
              </a:rPr>
              <a:t>2. Japan data heavily imputed; blockbuster samples rare</a:t>
            </a:r>
            <a:endParaRPr lang="zh-CN" altLang="en-US" sz="11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endParaRPr lang="zh-CN" altLang="en-US" sz="11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endParaRPr lang="zh-CN" altLang="en-US" sz="11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1">
                <a:solidFill>
                  <a:schemeClr val="tx1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# Next Steps</a:t>
            </a:r>
            <a:endParaRPr lang="zh-CN" altLang="en-US" b="1">
              <a:solidFill>
                <a:schemeClr val="tx1"/>
              </a:solidFill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endParaRPr lang="zh-CN" altLang="en-US" sz="1000" b="1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r>
              <a:rPr lang="zh-CN" altLang="en-US" sz="1100">
                <a:latin typeface="MiSans" pitchFamily="34" charset="-122"/>
                <a:ea typeface="MiSans" pitchFamily="34" charset="-122"/>
                <a:cs typeface="MiSans" pitchFamily="34" charset="-122"/>
              </a:rPr>
              <a:t>1. Build separate regional sales prediction sub-models</a:t>
            </a:r>
            <a:endParaRPr lang="zh-CN" altLang="en-US" sz="11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endParaRPr lang="zh-CN" altLang="en-US" sz="11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r>
              <a:rPr lang="zh-CN" altLang="en-US" sz="1100">
                <a:latin typeface="MiSans" pitchFamily="34" charset="-122"/>
                <a:ea typeface="MiSans" pitchFamily="34" charset="-122"/>
                <a:cs typeface="MiSans" pitchFamily="34" charset="-122"/>
              </a:rPr>
              <a:t>2. Optimize regional imputation for Japan data</a:t>
            </a:r>
            <a:endParaRPr lang="zh-CN" altLang="en-US" sz="11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endParaRPr lang="zh-CN" altLang="en-US" sz="11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r>
              <a:rPr lang="zh-CN" altLang="en-US" sz="1100">
                <a:latin typeface="MiSans" pitchFamily="34" charset="-122"/>
                <a:ea typeface="MiSans" pitchFamily="34" charset="-122"/>
                <a:cs typeface="MiSans" pitchFamily="34" charset="-122"/>
              </a:rPr>
              <a:t>3. Add regional market preference features</a:t>
            </a:r>
            <a:endParaRPr lang="zh-CN" altLang="en-US" sz="11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endParaRPr lang="zh-CN" altLang="en-US" sz="1100">
              <a:latin typeface="MiSans" pitchFamily="34" charset="-122"/>
              <a:ea typeface="MiSans" pitchFamily="34" charset="-122"/>
              <a:cs typeface="MiSans" pitchFamily="34" charset="-122"/>
            </a:endParaRPr>
          </a:p>
          <a:p>
            <a:pPr algn="l"/>
            <a:r>
              <a:rPr lang="zh-CN" altLang="en-US" sz="1100">
                <a:latin typeface="MiSans" pitchFamily="34" charset="-122"/>
                <a:ea typeface="MiSans" pitchFamily="34" charset="-122"/>
                <a:cs typeface="MiSans" pitchFamily="34" charset="-122"/>
              </a:rPr>
              <a:t>4. Supplement modern digital &amp; new console data</a:t>
            </a:r>
            <a:endParaRPr lang="zh-CN" altLang="en-US" sz="1100">
              <a:latin typeface="MiSans" pitchFamily="34" charset="-122"/>
              <a:ea typeface="MiSans" pitchFamily="34" charset="-122"/>
              <a:cs typeface="MiSans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9-d2sggvu1bb2p4onbonq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726690"/>
            <a:ext cx="773557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419100" y="2726690"/>
            <a:ext cx="7735570" cy="1804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2359" y="810670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2359" y="81067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2359" y="907644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2359" y="90764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2359" y="1004618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2359" y="100461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1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330200"/>
            <a:ext cx="262890" cy="11703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6745" y="5819775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626745" y="5819775"/>
            <a:ext cx="4345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altLang="zh-CN" sz="1600" b="1" dirty="0">
                <a:solidFill>
                  <a:srgbClr val="000000"/>
                </a:solidFill>
              </a:rPr>
              <a:t>Group 23</a:t>
            </a:r>
            <a:endParaRPr lang="en-US" sz="1600" b="1" dirty="0"/>
          </a:p>
        </p:txBody>
      </p:sp>
      <p:sp>
        <p:nvSpPr>
          <p:cNvPr id="14" name="Text 10"/>
          <p:cNvSpPr/>
          <p:nvPr/>
        </p:nvSpPr>
        <p:spPr>
          <a:xfrm>
            <a:off x="7211695" y="581977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altLang="zh-CN" sz="1600" b="1" dirty="0">
                <a:solidFill>
                  <a:srgbClr val="000000"/>
                </a:solidFill>
              </a:rPr>
              <a:t>Report date: 2026/7/1</a:t>
            </a:r>
            <a:endParaRPr lang="en-US" altLang="zh-CN" sz="1600" b="1" dirty="0">
              <a:solidFill>
                <a:srgbClr val="000000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099607" y="5982681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2"/>
          <p:cNvSpPr/>
          <p:nvPr/>
        </p:nvSpPr>
        <p:spPr>
          <a:xfrm>
            <a:off x="626745" y="346329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8" name="Shape 14"/>
          <p:cNvSpPr/>
          <p:nvPr/>
        </p:nvSpPr>
        <p:spPr>
          <a:xfrm>
            <a:off x="626745" y="2541905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579066" y="3073699"/>
            <a:ext cx="11033760" cy="10020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3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</a:t>
            </a:r>
            <a:r>
              <a:rPr lang="en-US" altLang="zh-CN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WATCH</a:t>
            </a: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ING！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7403</Words>
  <Application>WPS 演示</Application>
  <PresentationFormat>On-screen Show (16:9)</PresentationFormat>
  <Paragraphs>325</Paragraphs>
  <Slides>23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Calibri</vt:lpstr>
      <vt:lpstr>微软雅黑</vt:lpstr>
      <vt:lpstr>Arial Unicode MS</vt:lpstr>
      <vt:lpstr>等线</vt:lpstr>
      <vt:lpstr>Wingdings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数据洞见游戏销量密码</dc:title>
  <dc:creator>Kimi</dc:creator>
  <dc:subject>数据洞见游戏销量密码</dc:subject>
  <cp:lastModifiedBy>左逢袁</cp:lastModifiedBy>
  <cp:revision>2</cp:revision>
  <dcterms:created xsi:type="dcterms:W3CDTF">2026-07-01T03:17:48Z</dcterms:created>
  <dcterms:modified xsi:type="dcterms:W3CDTF">2026-07-01T03:32:07Z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{"Label":"数据洞见游戏销量密码","ContentProducer":"001191110108MACG2KBH8F10000","ProduceID":"d4is4c0i2d87jhcfks80","ReservedCode1":"","ContentPropagator":"001191110108MACG2KBH8F20000","PropagateID":"d4is4c0i2d87jhcfks80","ReservedCode2":""}</vt:lpwstr>
  </property>
  <property fmtid="{D5CDD505-2E9C-101B-9397-08002B2CF9AE}" pid="3" name="ICV">
    <vt:lpwstr>EA4439ED99B0096CFAC525690F90E766_42</vt:lpwstr>
  </property>
  <property fmtid="{D5CDD505-2E9C-101B-9397-08002B2CF9AE}" pid="4" name="KSOProductBuildVer">
    <vt:lpwstr>2052-12.1.0.25225</vt:lpwstr>
  </property>
</Properties>
</file>